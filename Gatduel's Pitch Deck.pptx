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arlow Semi-Bold" charset="1" panose="00000700000000000000"/>
      <p:regular r:id="rId20"/>
    </p:embeddedFont>
    <p:embeddedFont>
      <p:font typeface="Barlow Medium" charset="1" panose="00000600000000000000"/>
      <p:regular r:id="rId21"/>
    </p:embeddedFont>
    <p:embeddedFont>
      <p:font typeface="Barlow Bold" charset="1" panose="00000800000000000000"/>
      <p:regular r:id="rId22"/>
    </p:embeddedFont>
    <p:embeddedFont>
      <p:font typeface="Barlow" charset="1" panose="00000500000000000000"/>
      <p:regular r:id="rId23"/>
    </p:embeddedFont>
    <p:embeddedFont>
      <p:font typeface="Garet" charset="1" panose="00000000000000000000"/>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BF63"/>
        </a:solidFill>
      </p:bgPr>
    </p:bg>
    <p:spTree>
      <p:nvGrpSpPr>
        <p:cNvPr id="1" name=""/>
        <p:cNvGrpSpPr/>
        <p:nvPr/>
      </p:nvGrpSpPr>
      <p:grpSpPr>
        <a:xfrm>
          <a:off x="0" y="0"/>
          <a:ext cx="0" cy="0"/>
          <a:chOff x="0" y="0"/>
          <a:chExt cx="0" cy="0"/>
        </a:xfrm>
      </p:grpSpPr>
      <p:sp>
        <p:nvSpPr>
          <p:cNvPr name="Freeform 2" id="2"/>
          <p:cNvSpPr/>
          <p:nvPr/>
        </p:nvSpPr>
        <p:spPr>
          <a:xfrm flipH="false" flipV="false" rot="0">
            <a:off x="-457200" y="-552450"/>
            <a:ext cx="9601200" cy="11544300"/>
          </a:xfrm>
          <a:custGeom>
            <a:avLst/>
            <a:gdLst/>
            <a:ahLst/>
            <a:cxnLst/>
            <a:rect r="r" b="b" t="t" l="l"/>
            <a:pathLst>
              <a:path h="11544300" w="9601200">
                <a:moveTo>
                  <a:pt x="0" y="0"/>
                </a:moveTo>
                <a:lnTo>
                  <a:pt x="9601200" y="0"/>
                </a:lnTo>
                <a:lnTo>
                  <a:pt x="9601200" y="11544300"/>
                </a:lnTo>
                <a:lnTo>
                  <a:pt x="0" y="11544300"/>
                </a:lnTo>
                <a:lnTo>
                  <a:pt x="0" y="0"/>
                </a:lnTo>
                <a:close/>
              </a:path>
            </a:pathLst>
          </a:custGeom>
          <a:blipFill>
            <a:blip r:embed="rId2">
              <a:extLst>
                <a:ext uri="{96DAC541-7B7A-43D3-8B79-37D633B846F1}">
                  <asvg:svgBlip xmlns:asvg="http://schemas.microsoft.com/office/drawing/2016/SVG/main" r:embed="rId3"/>
                </a:ext>
              </a:extLst>
            </a:blip>
            <a:stretch>
              <a:fillRect l="-35381" t="-2505" r="0" b="-10089"/>
            </a:stretch>
          </a:blipFill>
        </p:spPr>
      </p:sp>
      <p:sp>
        <p:nvSpPr>
          <p:cNvPr name="TextBox 3" id="3"/>
          <p:cNvSpPr txBox="true"/>
          <p:nvPr/>
        </p:nvSpPr>
        <p:spPr>
          <a:xfrm rot="0">
            <a:off x="629257" y="1670157"/>
            <a:ext cx="9017005" cy="5719804"/>
          </a:xfrm>
          <a:prstGeom prst="rect">
            <a:avLst/>
          </a:prstGeom>
        </p:spPr>
        <p:txBody>
          <a:bodyPr anchor="t" rtlCol="false" tIns="0" lIns="0" bIns="0" rIns="0">
            <a:spAutoFit/>
          </a:bodyPr>
          <a:lstStyle/>
          <a:p>
            <a:pPr algn="l">
              <a:lnSpc>
                <a:spcPts val="4099"/>
              </a:lnSpc>
            </a:pPr>
            <a:r>
              <a:rPr lang="en-US" sz="4099" b="true">
                <a:solidFill>
                  <a:srgbClr val="000000"/>
                </a:solidFill>
                <a:latin typeface="Barlow Semi-Bold"/>
                <a:ea typeface="Barlow Semi-Bold"/>
                <a:cs typeface="Barlow Semi-Bold"/>
                <a:sym typeface="Barlow Semi-Bold"/>
              </a:rPr>
              <a:t>Simplifying Data, Empowering Decisions</a:t>
            </a:r>
          </a:p>
          <a:p>
            <a:pPr algn="l">
              <a:lnSpc>
                <a:spcPts val="4099"/>
              </a:lnSpc>
            </a:pPr>
          </a:p>
          <a:p>
            <a:pPr algn="l">
              <a:lnSpc>
                <a:spcPts val="4099"/>
              </a:lnSpc>
            </a:pPr>
          </a:p>
          <a:p>
            <a:pPr algn="l">
              <a:lnSpc>
                <a:spcPts val="4099"/>
              </a:lnSpc>
            </a:pPr>
          </a:p>
          <a:p>
            <a:pPr algn="l">
              <a:lnSpc>
                <a:spcPts val="4099"/>
              </a:lnSpc>
            </a:pPr>
          </a:p>
          <a:p>
            <a:pPr algn="l">
              <a:lnSpc>
                <a:spcPts val="4099"/>
              </a:lnSpc>
            </a:pPr>
          </a:p>
          <a:p>
            <a:pPr algn="l">
              <a:lnSpc>
                <a:spcPts val="4099"/>
              </a:lnSpc>
            </a:pPr>
          </a:p>
          <a:p>
            <a:pPr algn="l">
              <a:lnSpc>
                <a:spcPts val="4099"/>
              </a:lnSpc>
            </a:pPr>
          </a:p>
          <a:p>
            <a:pPr algn="l">
              <a:lnSpc>
                <a:spcPts val="4099"/>
              </a:lnSpc>
            </a:pPr>
            <a:r>
              <a:rPr lang="en-US" sz="4099" b="true">
                <a:solidFill>
                  <a:srgbClr val="000000"/>
                </a:solidFill>
                <a:latin typeface="Barlow Semi-Bold"/>
                <a:ea typeface="Barlow Semi-Bold"/>
                <a:cs typeface="Barlow Semi-Bold"/>
                <a:sym typeface="Barlow Semi-Bold"/>
              </a:rPr>
              <a:t>By Gatduel Riek</a:t>
            </a:r>
          </a:p>
          <a:p>
            <a:pPr algn="l">
              <a:lnSpc>
                <a:spcPts val="4099"/>
              </a:lnSpc>
            </a:pPr>
          </a:p>
        </p:txBody>
      </p:sp>
      <p:sp>
        <p:nvSpPr>
          <p:cNvPr name="Freeform 4" id="4"/>
          <p:cNvSpPr/>
          <p:nvPr/>
        </p:nvSpPr>
        <p:spPr>
          <a:xfrm flipH="false" flipV="false" rot="0">
            <a:off x="303663" y="143884"/>
            <a:ext cx="1837509" cy="1837509"/>
          </a:xfrm>
          <a:custGeom>
            <a:avLst/>
            <a:gdLst/>
            <a:ahLst/>
            <a:cxnLst/>
            <a:rect r="r" b="b" t="t" l="l"/>
            <a:pathLst>
              <a:path h="1837509" w="1837509">
                <a:moveTo>
                  <a:pt x="0" y="0"/>
                </a:moveTo>
                <a:lnTo>
                  <a:pt x="1837510" y="0"/>
                </a:lnTo>
                <a:lnTo>
                  <a:pt x="1837510" y="1837510"/>
                </a:lnTo>
                <a:lnTo>
                  <a:pt x="0" y="1837510"/>
                </a:lnTo>
                <a:lnTo>
                  <a:pt x="0" y="0"/>
                </a:lnTo>
                <a:close/>
              </a:path>
            </a:pathLst>
          </a:custGeom>
          <a:blipFill>
            <a:blip r:embed="rId4"/>
            <a:stretch>
              <a:fillRect l="0" t="0" r="0" b="0"/>
            </a:stretch>
          </a:blipFill>
        </p:spPr>
      </p:sp>
      <p:sp>
        <p:nvSpPr>
          <p:cNvPr name="Freeform 5" id="5"/>
          <p:cNvSpPr/>
          <p:nvPr/>
        </p:nvSpPr>
        <p:spPr>
          <a:xfrm flipH="false" flipV="false" rot="0">
            <a:off x="9414120" y="2324618"/>
            <a:ext cx="8456646" cy="5637764"/>
          </a:xfrm>
          <a:custGeom>
            <a:avLst/>
            <a:gdLst/>
            <a:ahLst/>
            <a:cxnLst/>
            <a:rect r="r" b="b" t="t" l="l"/>
            <a:pathLst>
              <a:path h="5637764" w="8456646">
                <a:moveTo>
                  <a:pt x="0" y="0"/>
                </a:moveTo>
                <a:lnTo>
                  <a:pt x="8456646" y="0"/>
                </a:lnTo>
                <a:lnTo>
                  <a:pt x="8456646" y="5637764"/>
                </a:lnTo>
                <a:lnTo>
                  <a:pt x="0" y="5637764"/>
                </a:lnTo>
                <a:lnTo>
                  <a:pt x="0" y="0"/>
                </a:lnTo>
                <a:close/>
              </a:path>
            </a:pathLst>
          </a:custGeom>
          <a:blipFill>
            <a:blip r:embed="rId5"/>
            <a:stretch>
              <a:fillRect l="0" t="0" r="0" b="0"/>
            </a:stretch>
          </a:blipFill>
        </p:spPr>
      </p:sp>
      <p:sp>
        <p:nvSpPr>
          <p:cNvPr name="TextBox 6" id="6"/>
          <p:cNvSpPr txBox="true"/>
          <p:nvPr/>
        </p:nvSpPr>
        <p:spPr>
          <a:xfrm rot="0">
            <a:off x="629257" y="9576600"/>
            <a:ext cx="798886" cy="347980"/>
          </a:xfrm>
          <a:prstGeom prst="rect">
            <a:avLst/>
          </a:prstGeom>
        </p:spPr>
        <p:txBody>
          <a:bodyPr anchor="t" rtlCol="false" tIns="0" lIns="0" bIns="0" rIns="0">
            <a:spAutoFit/>
          </a:bodyPr>
          <a:lstStyle/>
          <a:p>
            <a:pPr algn="l">
              <a:lnSpc>
                <a:spcPts val="2749"/>
              </a:lnSpc>
            </a:pPr>
            <a:r>
              <a:rPr lang="en-US" sz="2199" b="true">
                <a:solidFill>
                  <a:srgbClr val="90113E"/>
                </a:solidFill>
                <a:latin typeface="Barlow Semi-Bold"/>
                <a:ea typeface="Barlow Semi-Bold"/>
                <a:cs typeface="Barlow Semi-Bold"/>
                <a:sym typeface="Barlow Semi-Bold"/>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2258270" y="-349930"/>
            <a:ext cx="7708159" cy="10986860"/>
          </a:xfrm>
          <a:prstGeom prst="rect">
            <a:avLst/>
          </a:prstGeom>
          <a:solidFill>
            <a:srgbClr val="00BF63"/>
          </a:solidFill>
        </p:spPr>
      </p:sp>
      <p:sp>
        <p:nvSpPr>
          <p:cNvPr name="Freeform 3" id="3"/>
          <p:cNvSpPr/>
          <p:nvPr/>
        </p:nvSpPr>
        <p:spPr>
          <a:xfrm flipH="false" flipV="false" rot="0">
            <a:off x="629257" y="893789"/>
            <a:ext cx="1079292" cy="269823"/>
          </a:xfrm>
          <a:custGeom>
            <a:avLst/>
            <a:gdLst/>
            <a:ahLst/>
            <a:cxnLst/>
            <a:rect r="r" b="b" t="t" l="l"/>
            <a:pathLst>
              <a:path h="269823" w="1079292">
                <a:moveTo>
                  <a:pt x="0" y="0"/>
                </a:moveTo>
                <a:lnTo>
                  <a:pt x="1079292" y="0"/>
                </a:lnTo>
                <a:lnTo>
                  <a:pt x="1079292" y="269822"/>
                </a:lnTo>
                <a:lnTo>
                  <a:pt x="0" y="269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258270" y="1694925"/>
            <a:ext cx="6029730" cy="7563375"/>
          </a:xfrm>
          <a:custGeom>
            <a:avLst/>
            <a:gdLst/>
            <a:ahLst/>
            <a:cxnLst/>
            <a:rect r="r" b="b" t="t" l="l"/>
            <a:pathLst>
              <a:path h="7563375" w="6029730">
                <a:moveTo>
                  <a:pt x="0" y="0"/>
                </a:moveTo>
                <a:lnTo>
                  <a:pt x="6029730" y="0"/>
                </a:lnTo>
                <a:lnTo>
                  <a:pt x="6029730" y="7563375"/>
                </a:lnTo>
                <a:lnTo>
                  <a:pt x="0" y="7563375"/>
                </a:lnTo>
                <a:lnTo>
                  <a:pt x="0" y="0"/>
                </a:lnTo>
                <a:close/>
              </a:path>
            </a:pathLst>
          </a:custGeom>
          <a:blipFill>
            <a:blip r:embed="rId4"/>
            <a:stretch>
              <a:fillRect l="-70115" t="0" r="-18154" b="0"/>
            </a:stretch>
          </a:blipFill>
        </p:spPr>
      </p:sp>
      <p:sp>
        <p:nvSpPr>
          <p:cNvPr name="TextBox 5" id="5"/>
          <p:cNvSpPr txBox="true"/>
          <p:nvPr/>
        </p:nvSpPr>
        <p:spPr>
          <a:xfrm rot="0">
            <a:off x="244053" y="1694925"/>
            <a:ext cx="10401441" cy="3448575"/>
          </a:xfrm>
          <a:prstGeom prst="rect">
            <a:avLst/>
          </a:prstGeom>
        </p:spPr>
        <p:txBody>
          <a:bodyPr anchor="t" rtlCol="false" tIns="0" lIns="0" bIns="0" rIns="0">
            <a:spAutoFit/>
          </a:bodyPr>
          <a:lstStyle/>
          <a:p>
            <a:pPr algn="l">
              <a:lnSpc>
                <a:spcPts val="5447"/>
              </a:lnSpc>
            </a:pPr>
            <a:r>
              <a:rPr lang="en-US" sz="4539" b="true">
                <a:solidFill>
                  <a:srgbClr val="00BF63"/>
                </a:solidFill>
                <a:latin typeface="Barlow Semi-Bold"/>
                <a:ea typeface="Barlow Semi-Bold"/>
                <a:cs typeface="Barlow Semi-Bold"/>
                <a:sym typeface="Barlow Semi-Bold"/>
              </a:rPr>
              <a:t>Where Does Your Data Really Come From?</a:t>
            </a:r>
          </a:p>
          <a:p>
            <a:pPr algn="l">
              <a:lnSpc>
                <a:spcPts val="5447"/>
              </a:lnSpc>
            </a:pPr>
            <a:r>
              <a:rPr lang="en-US" sz="4539" b="true">
                <a:solidFill>
                  <a:srgbClr val="00BF63"/>
                </a:solidFill>
                <a:latin typeface="Barlow Semi-Bold"/>
                <a:ea typeface="Barlow Semi-Bold"/>
                <a:cs typeface="Barlow Semi-Bold"/>
                <a:sym typeface="Barlow Semi-Bold"/>
              </a:rPr>
              <a:t>Is Your Analysis Built on Reliable Data?</a:t>
            </a:r>
          </a:p>
          <a:p>
            <a:pPr algn="l" marL="0" indent="0" lvl="0">
              <a:lnSpc>
                <a:spcPts val="5447"/>
              </a:lnSpc>
            </a:pPr>
            <a:r>
              <a:rPr lang="en-US" b="true" sz="4539">
                <a:solidFill>
                  <a:srgbClr val="00BF63"/>
                </a:solidFill>
                <a:latin typeface="Barlow Semi-Bold"/>
                <a:ea typeface="Barlow Semi-Bold"/>
                <a:cs typeface="Barlow Semi-Bold"/>
                <a:sym typeface="Barlow Semi-Bold"/>
              </a:rPr>
              <a:t>Where Are Businesses Getting Their Insights?</a:t>
            </a:r>
          </a:p>
        </p:txBody>
      </p:sp>
      <p:sp>
        <p:nvSpPr>
          <p:cNvPr name="TextBox 6" id="6"/>
          <p:cNvSpPr txBox="true"/>
          <p:nvPr/>
        </p:nvSpPr>
        <p:spPr>
          <a:xfrm rot="0">
            <a:off x="629257" y="6973081"/>
            <a:ext cx="9631034" cy="3313919"/>
          </a:xfrm>
          <a:prstGeom prst="rect">
            <a:avLst/>
          </a:prstGeom>
        </p:spPr>
        <p:txBody>
          <a:bodyPr anchor="t" rtlCol="false" tIns="0" lIns="0" bIns="0" rIns="0">
            <a:spAutoFit/>
          </a:bodyPr>
          <a:lstStyle/>
          <a:p>
            <a:pPr algn="l">
              <a:lnSpc>
                <a:spcPts val="5293"/>
              </a:lnSpc>
            </a:pPr>
            <a:r>
              <a:rPr lang="en-US" b="true" sz="3780">
                <a:solidFill>
                  <a:srgbClr val="000000"/>
                </a:solidFill>
                <a:latin typeface="Barlow Medium"/>
                <a:ea typeface="Barlow Medium"/>
                <a:cs typeface="Barlow Medium"/>
                <a:sym typeface="Barlow Medium"/>
              </a:rPr>
              <a:t>Organizations struggle to access clean, structured, and timely online data. Manual collection wastes resources, while poor data quality undermines analysis and decision‑making.</a:t>
            </a:r>
          </a:p>
        </p:txBody>
      </p:sp>
      <p:sp>
        <p:nvSpPr>
          <p:cNvPr name="TextBox 7" id="7"/>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90113E"/>
                </a:solidFill>
                <a:latin typeface="Barlow Semi-Bold"/>
                <a:ea typeface="Barlow Semi-Bold"/>
                <a:cs typeface="Barlow Semi-Bold"/>
                <a:sym typeface="Barlow Semi-Bold"/>
              </a:rPr>
              <a:t>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444798"/>
            <a:ext cx="1059192" cy="1059192"/>
            <a:chOff x="0" y="0"/>
            <a:chExt cx="1412257" cy="1412257"/>
          </a:xfrm>
        </p:grpSpPr>
        <p:grpSp>
          <p:nvGrpSpPr>
            <p:cNvPr name="Group 3" id="3"/>
            <p:cNvGrpSpPr/>
            <p:nvPr/>
          </p:nvGrpSpPr>
          <p:grpSpPr>
            <a:xfrm rot="0">
              <a:off x="0" y="0"/>
              <a:ext cx="1412257" cy="1412257"/>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0113E"/>
              </a:solidFill>
            </p:spPr>
          </p:sp>
        </p:grpSp>
        <p:sp>
          <p:nvSpPr>
            <p:cNvPr name="Freeform 5" id="5"/>
            <p:cNvSpPr/>
            <p:nvPr/>
          </p:nvSpPr>
          <p:spPr>
            <a:xfrm flipH="false" flipV="false" rot="0">
              <a:off x="474293" y="543843"/>
              <a:ext cx="463671" cy="324570"/>
            </a:xfrm>
            <a:custGeom>
              <a:avLst/>
              <a:gdLst/>
              <a:ahLst/>
              <a:cxnLst/>
              <a:rect r="r" b="b" t="t" l="l"/>
              <a:pathLst>
                <a:path h="324570" w="463671">
                  <a:moveTo>
                    <a:pt x="0" y="0"/>
                  </a:moveTo>
                  <a:lnTo>
                    <a:pt x="463671" y="0"/>
                  </a:lnTo>
                  <a:lnTo>
                    <a:pt x="463671" y="324570"/>
                  </a:lnTo>
                  <a:lnTo>
                    <a:pt x="0" y="3245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6" id="6"/>
          <p:cNvSpPr txBox="true"/>
          <p:nvPr/>
        </p:nvSpPr>
        <p:spPr>
          <a:xfrm rot="0">
            <a:off x="629257" y="400050"/>
            <a:ext cx="16421100" cy="1238250"/>
          </a:xfrm>
          <a:prstGeom prst="rect">
            <a:avLst/>
          </a:prstGeom>
        </p:spPr>
        <p:txBody>
          <a:bodyPr anchor="t" rtlCol="false" tIns="0" lIns="0" bIns="0" rIns="0">
            <a:spAutoFit/>
          </a:bodyPr>
          <a:lstStyle/>
          <a:p>
            <a:pPr algn="l" marL="0" indent="0" lvl="0">
              <a:lnSpc>
                <a:spcPts val="9600"/>
              </a:lnSpc>
            </a:pPr>
            <a:r>
              <a:rPr lang="en-US" b="true" sz="8000">
                <a:solidFill>
                  <a:srgbClr val="00BF63"/>
                </a:solidFill>
                <a:latin typeface="Barlow Bold"/>
                <a:ea typeface="Barlow Bold"/>
                <a:cs typeface="Barlow Bold"/>
                <a:sym typeface="Barlow Bold"/>
              </a:rPr>
              <a:t>Web Scraping and automation tools</a:t>
            </a:r>
          </a:p>
        </p:txBody>
      </p:sp>
      <p:sp>
        <p:nvSpPr>
          <p:cNvPr name="TextBox 7" id="7"/>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90113E"/>
                </a:solidFill>
                <a:latin typeface="Barlow Semi-Bold"/>
                <a:ea typeface="Barlow Semi-Bold"/>
                <a:cs typeface="Barlow Semi-Bold"/>
                <a:sym typeface="Barlow Semi-Bold"/>
              </a:rPr>
              <a:t>06</a:t>
            </a:r>
          </a:p>
        </p:txBody>
      </p:sp>
      <p:sp>
        <p:nvSpPr>
          <p:cNvPr name="TextBox 8" id="8"/>
          <p:cNvSpPr txBox="true"/>
          <p:nvPr/>
        </p:nvSpPr>
        <p:spPr>
          <a:xfrm rot="0">
            <a:off x="629257" y="2214933"/>
            <a:ext cx="14399825" cy="2066254"/>
          </a:xfrm>
          <a:prstGeom prst="rect">
            <a:avLst/>
          </a:prstGeom>
        </p:spPr>
        <p:txBody>
          <a:bodyPr anchor="t" rtlCol="false" tIns="0" lIns="0" bIns="0" rIns="0">
            <a:spAutoFit/>
          </a:bodyPr>
          <a:lstStyle/>
          <a:p>
            <a:pPr algn="l" marL="0" indent="0" lvl="0">
              <a:lnSpc>
                <a:spcPts val="5487"/>
              </a:lnSpc>
            </a:pPr>
            <a:r>
              <a:rPr lang="en-US" sz="4572">
                <a:solidFill>
                  <a:srgbClr val="000000"/>
                </a:solidFill>
                <a:latin typeface="Barlow"/>
                <a:ea typeface="Barlow"/>
                <a:cs typeface="Barlow"/>
                <a:sym typeface="Barlow"/>
              </a:rPr>
              <a:t>We use Python web scraping and script automation to collect millions of structured and clean data within 10 to 20 minutes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31599" y="2656607"/>
            <a:ext cx="2651460" cy="5246370"/>
            <a:chOff x="0" y="0"/>
            <a:chExt cx="2620010" cy="5184140"/>
          </a:xfrm>
        </p:grpSpPr>
        <p:sp>
          <p:nvSpPr>
            <p:cNvPr name="Freeform 3" id="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 id="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69093" t="0" r="-169093" b="0"/>
              </a:stretch>
            </a:blipFill>
          </p:spPr>
        </p:sp>
        <p:sp>
          <p:nvSpPr>
            <p:cNvPr name="Freeform 5" id="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6" id="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7" id="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8" id="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9" id="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0" id="1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1" id="1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12" id="12"/>
          <p:cNvGrpSpPr>
            <a:grpSpLocks noChangeAspect="true"/>
          </p:cNvGrpSpPr>
          <p:nvPr/>
        </p:nvGrpSpPr>
        <p:grpSpPr>
          <a:xfrm rot="0">
            <a:off x="4087135" y="4257621"/>
            <a:ext cx="2651460" cy="5246370"/>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42858" t="0" r="-142858" b="0"/>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22" id="22"/>
          <p:cNvSpPr txBox="true"/>
          <p:nvPr/>
        </p:nvSpPr>
        <p:spPr>
          <a:xfrm rot="0">
            <a:off x="1028700" y="667172"/>
            <a:ext cx="8768329" cy="1228725"/>
          </a:xfrm>
          <a:prstGeom prst="rect">
            <a:avLst/>
          </a:prstGeom>
        </p:spPr>
        <p:txBody>
          <a:bodyPr anchor="t" rtlCol="false" tIns="0" lIns="0" bIns="0" rIns="0">
            <a:spAutoFit/>
          </a:bodyPr>
          <a:lstStyle/>
          <a:p>
            <a:pPr algn="l" marL="0" indent="0" lvl="0">
              <a:lnSpc>
                <a:spcPts val="9720"/>
              </a:lnSpc>
              <a:spcBef>
                <a:spcPct val="0"/>
              </a:spcBef>
            </a:pPr>
            <a:r>
              <a:rPr lang="en-US" b="true" sz="8100">
                <a:solidFill>
                  <a:srgbClr val="00BF63"/>
                </a:solidFill>
                <a:latin typeface="Barlow Bold"/>
                <a:ea typeface="Barlow Bold"/>
                <a:cs typeface="Barlow Bold"/>
                <a:sym typeface="Barlow Bold"/>
              </a:rPr>
              <a:t>Data engineering</a:t>
            </a:r>
          </a:p>
        </p:txBody>
      </p:sp>
      <p:sp>
        <p:nvSpPr>
          <p:cNvPr name="TextBox 23" id="23"/>
          <p:cNvSpPr txBox="true"/>
          <p:nvPr/>
        </p:nvSpPr>
        <p:spPr>
          <a:xfrm rot="0">
            <a:off x="7138645" y="3748381"/>
            <a:ext cx="10120655" cy="4597400"/>
          </a:xfrm>
          <a:prstGeom prst="rect">
            <a:avLst/>
          </a:prstGeom>
        </p:spPr>
        <p:txBody>
          <a:bodyPr anchor="t" rtlCol="false" tIns="0" lIns="0" bIns="0" rIns="0">
            <a:spAutoFit/>
          </a:bodyPr>
          <a:lstStyle/>
          <a:p>
            <a:pPr algn="l" marL="0" indent="0" lvl="0">
              <a:lnSpc>
                <a:spcPts val="5199"/>
              </a:lnSpc>
              <a:spcBef>
                <a:spcPct val="0"/>
              </a:spcBef>
            </a:pPr>
            <a:r>
              <a:rPr lang="en-US" sz="3999">
                <a:solidFill>
                  <a:srgbClr val="000000"/>
                </a:solidFill>
                <a:latin typeface="Barlow"/>
                <a:ea typeface="Barlow"/>
                <a:cs typeface="Barlow"/>
                <a:sym typeface="Barlow"/>
              </a:rPr>
              <a:t>We send Python libraries to some website, it fetch unstructured raw html data, parse them using beautifulsoup and structures it and export them to different file format using Pandas, an alternative to requests and beautifulsoup is Selenium with combination to Pandas</a:t>
            </a:r>
          </a:p>
        </p:txBody>
      </p:sp>
      <p:sp>
        <p:nvSpPr>
          <p:cNvPr name="TextBox 24" id="24"/>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a:solidFill>
                  <a:srgbClr val="000000"/>
                </a:solidFill>
                <a:latin typeface="Barlow"/>
                <a:ea typeface="Barlow"/>
                <a:cs typeface="Barlow"/>
                <a:sym typeface="Barlow"/>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7FA"/>
        </a:solidFill>
      </p:bgPr>
    </p:bg>
    <p:spTree>
      <p:nvGrpSpPr>
        <p:cNvPr id="1" name=""/>
        <p:cNvGrpSpPr/>
        <p:nvPr/>
      </p:nvGrpSpPr>
      <p:grpSpPr>
        <a:xfrm>
          <a:off x="0" y="0"/>
          <a:ext cx="0" cy="0"/>
          <a:chOff x="0" y="0"/>
          <a:chExt cx="0" cy="0"/>
        </a:xfrm>
      </p:grpSpPr>
      <p:grpSp>
        <p:nvGrpSpPr>
          <p:cNvPr name="Group 2" id="2"/>
          <p:cNvGrpSpPr/>
          <p:nvPr/>
        </p:nvGrpSpPr>
        <p:grpSpPr>
          <a:xfrm rot="0">
            <a:off x="6100057" y="1315738"/>
            <a:ext cx="11663252" cy="2460665"/>
            <a:chOff x="0" y="0"/>
            <a:chExt cx="15551003" cy="3280887"/>
          </a:xfrm>
        </p:grpSpPr>
        <p:sp>
          <p:nvSpPr>
            <p:cNvPr name="TextBox 3" id="3"/>
            <p:cNvSpPr txBox="true"/>
            <p:nvPr/>
          </p:nvSpPr>
          <p:spPr>
            <a:xfrm rot="0">
              <a:off x="0" y="0"/>
              <a:ext cx="12110334" cy="1638300"/>
            </a:xfrm>
            <a:prstGeom prst="rect">
              <a:avLst/>
            </a:prstGeom>
          </p:spPr>
          <p:txBody>
            <a:bodyPr anchor="t" rtlCol="false" tIns="0" lIns="0" bIns="0" rIns="0">
              <a:spAutoFit/>
            </a:bodyPr>
            <a:lstStyle/>
            <a:p>
              <a:pPr algn="l" marL="0" indent="0" lvl="0">
                <a:lnSpc>
                  <a:spcPts val="9720"/>
                </a:lnSpc>
              </a:pPr>
              <a:r>
                <a:rPr lang="en-US" b="true" sz="8100">
                  <a:solidFill>
                    <a:srgbClr val="000000"/>
                  </a:solidFill>
                  <a:latin typeface="Barlow Semi-Bold"/>
                  <a:ea typeface="Barlow Semi-Bold"/>
                  <a:cs typeface="Barlow Semi-Bold"/>
                  <a:sym typeface="Barlow Semi-Bold"/>
                </a:rPr>
                <a:t>5 OUT 10</a:t>
              </a:r>
            </a:p>
          </p:txBody>
        </p:sp>
        <p:sp>
          <p:nvSpPr>
            <p:cNvPr name="TextBox 4" id="4"/>
            <p:cNvSpPr txBox="true"/>
            <p:nvPr/>
          </p:nvSpPr>
          <p:spPr>
            <a:xfrm rot="0">
              <a:off x="0" y="1823985"/>
              <a:ext cx="15551003" cy="1456902"/>
            </a:xfrm>
            <a:prstGeom prst="rect">
              <a:avLst/>
            </a:prstGeom>
          </p:spPr>
          <p:txBody>
            <a:bodyPr anchor="t" rtlCol="false" tIns="0" lIns="0" bIns="0" rIns="0">
              <a:spAutoFit/>
            </a:bodyPr>
            <a:lstStyle/>
            <a:p>
              <a:pPr algn="l">
                <a:lnSpc>
                  <a:spcPts val="4479"/>
                </a:lnSpc>
              </a:pPr>
              <a:r>
                <a:rPr lang="en-US" b="true" sz="3199">
                  <a:solidFill>
                    <a:srgbClr val="000000"/>
                  </a:solidFill>
                  <a:latin typeface="Barlow Medium"/>
                  <a:ea typeface="Barlow Medium"/>
                  <a:cs typeface="Barlow Medium"/>
                  <a:sym typeface="Barlow Medium"/>
                </a:rPr>
                <a:t>Ha</a:t>
              </a:r>
              <a:r>
                <a:rPr lang="en-US" b="true" sz="3199">
                  <a:solidFill>
                    <a:srgbClr val="000000"/>
                  </a:solidFill>
                  <a:latin typeface="Barlow Medium"/>
                  <a:ea typeface="Barlow Medium"/>
                  <a:cs typeface="Barlow Medium"/>
                  <a:sym typeface="Barlow Medium"/>
                </a:rPr>
                <a:t>lf of industries already invest in data-driven tools but lack scalable scraping solutions.</a:t>
              </a:r>
            </a:p>
          </p:txBody>
        </p:sp>
      </p:grpSp>
      <p:grpSp>
        <p:nvGrpSpPr>
          <p:cNvPr name="Group 5" id="5"/>
          <p:cNvGrpSpPr/>
          <p:nvPr/>
        </p:nvGrpSpPr>
        <p:grpSpPr>
          <a:xfrm rot="0">
            <a:off x="6100057" y="4158039"/>
            <a:ext cx="10477616" cy="2460665"/>
            <a:chOff x="0" y="0"/>
            <a:chExt cx="13970155" cy="3280887"/>
          </a:xfrm>
        </p:grpSpPr>
        <p:sp>
          <p:nvSpPr>
            <p:cNvPr name="TextBox 6" id="6"/>
            <p:cNvSpPr txBox="true"/>
            <p:nvPr/>
          </p:nvSpPr>
          <p:spPr>
            <a:xfrm rot="0">
              <a:off x="0" y="0"/>
              <a:ext cx="12110334" cy="1638300"/>
            </a:xfrm>
            <a:prstGeom prst="rect">
              <a:avLst/>
            </a:prstGeom>
          </p:spPr>
          <p:txBody>
            <a:bodyPr anchor="t" rtlCol="false" tIns="0" lIns="0" bIns="0" rIns="0">
              <a:spAutoFit/>
            </a:bodyPr>
            <a:lstStyle/>
            <a:p>
              <a:pPr algn="l" marL="0" indent="0" lvl="0">
                <a:lnSpc>
                  <a:spcPts val="9720"/>
                </a:lnSpc>
              </a:pPr>
              <a:r>
                <a:rPr lang="en-US" b="true" sz="8100" u="none">
                  <a:solidFill>
                    <a:srgbClr val="000000"/>
                  </a:solidFill>
                  <a:latin typeface="Barlow Semi-Bold"/>
                  <a:ea typeface="Barlow Semi-Bold"/>
                  <a:cs typeface="Barlow Semi-Bold"/>
                  <a:sym typeface="Barlow Semi-Bold"/>
                </a:rPr>
                <a:t>95%</a:t>
              </a:r>
            </a:p>
          </p:txBody>
        </p:sp>
        <p:sp>
          <p:nvSpPr>
            <p:cNvPr name="TextBox 7" id="7"/>
            <p:cNvSpPr txBox="true"/>
            <p:nvPr/>
          </p:nvSpPr>
          <p:spPr>
            <a:xfrm rot="0">
              <a:off x="0" y="1823985"/>
              <a:ext cx="13970155" cy="1456902"/>
            </a:xfrm>
            <a:prstGeom prst="rect">
              <a:avLst/>
            </a:prstGeom>
          </p:spPr>
          <p:txBody>
            <a:bodyPr anchor="t" rtlCol="false" tIns="0" lIns="0" bIns="0" rIns="0">
              <a:spAutoFit/>
            </a:bodyPr>
            <a:lstStyle/>
            <a:p>
              <a:pPr algn="l">
                <a:lnSpc>
                  <a:spcPts val="4479"/>
                </a:lnSpc>
              </a:pPr>
              <a:r>
                <a:rPr lang="en-US" b="true" sz="3199">
                  <a:solidFill>
                    <a:srgbClr val="000000"/>
                  </a:solidFill>
                  <a:latin typeface="Barlow Medium"/>
                  <a:ea typeface="Barlow Medium"/>
                  <a:cs typeface="Barlow Medium"/>
                  <a:sym typeface="Barlow Medium"/>
                </a:rPr>
                <a:t>95% </a:t>
              </a:r>
              <a:r>
                <a:rPr lang="en-US" b="true" sz="3199">
                  <a:solidFill>
                    <a:srgbClr val="000000"/>
                  </a:solidFill>
                  <a:latin typeface="Barlow Medium"/>
                  <a:ea typeface="Barlow Medium"/>
                  <a:cs typeface="Barlow Medium"/>
                  <a:sym typeface="Barlow Medium"/>
                </a:rPr>
                <a:t>of businesses believe real-time data is critical for competitive advantage.</a:t>
              </a:r>
            </a:p>
          </p:txBody>
        </p:sp>
      </p:grpSp>
      <p:grpSp>
        <p:nvGrpSpPr>
          <p:cNvPr name="Group 8" id="8"/>
          <p:cNvGrpSpPr/>
          <p:nvPr/>
        </p:nvGrpSpPr>
        <p:grpSpPr>
          <a:xfrm rot="0">
            <a:off x="6100057" y="6775802"/>
            <a:ext cx="11942225" cy="2741653"/>
            <a:chOff x="0" y="0"/>
            <a:chExt cx="15922967" cy="3655537"/>
          </a:xfrm>
        </p:grpSpPr>
        <p:sp>
          <p:nvSpPr>
            <p:cNvPr name="TextBox 9" id="9"/>
            <p:cNvSpPr txBox="true"/>
            <p:nvPr/>
          </p:nvSpPr>
          <p:spPr>
            <a:xfrm rot="0">
              <a:off x="0" y="0"/>
              <a:ext cx="12110334" cy="1638300"/>
            </a:xfrm>
            <a:prstGeom prst="rect">
              <a:avLst/>
            </a:prstGeom>
          </p:spPr>
          <p:txBody>
            <a:bodyPr anchor="t" rtlCol="false" tIns="0" lIns="0" bIns="0" rIns="0">
              <a:spAutoFit/>
            </a:bodyPr>
            <a:lstStyle/>
            <a:p>
              <a:pPr algn="l" marL="0" indent="0" lvl="0">
                <a:lnSpc>
                  <a:spcPts val="9720"/>
                </a:lnSpc>
              </a:pPr>
              <a:r>
                <a:rPr lang="en-US" b="true" sz="8100" u="none">
                  <a:solidFill>
                    <a:srgbClr val="000000"/>
                  </a:solidFill>
                  <a:latin typeface="Barlow Semi-Bold"/>
                  <a:ea typeface="Barlow Semi-Bold"/>
                  <a:cs typeface="Barlow Semi-Bold"/>
                  <a:sym typeface="Barlow Semi-Bold"/>
                </a:rPr>
                <a:t>123 million</a:t>
              </a:r>
            </a:p>
          </p:txBody>
        </p:sp>
        <p:sp>
          <p:nvSpPr>
            <p:cNvPr name="TextBox 10" id="10"/>
            <p:cNvSpPr txBox="true"/>
            <p:nvPr/>
          </p:nvSpPr>
          <p:spPr>
            <a:xfrm rot="0">
              <a:off x="0" y="2198635"/>
              <a:ext cx="15922967" cy="1456902"/>
            </a:xfrm>
            <a:prstGeom prst="rect">
              <a:avLst/>
            </a:prstGeom>
          </p:spPr>
          <p:txBody>
            <a:bodyPr anchor="t" rtlCol="false" tIns="0" lIns="0" bIns="0" rIns="0">
              <a:spAutoFit/>
            </a:bodyPr>
            <a:lstStyle/>
            <a:p>
              <a:pPr algn="l">
                <a:lnSpc>
                  <a:spcPts val="4479"/>
                </a:lnSpc>
              </a:pPr>
              <a:r>
                <a:rPr lang="en-US" b="true" sz="3199">
                  <a:solidFill>
                    <a:srgbClr val="000000"/>
                  </a:solidFill>
                  <a:latin typeface="Barlow Medium"/>
                  <a:ea typeface="Barlow Medium"/>
                  <a:cs typeface="Barlow Medium"/>
                  <a:sym typeface="Barlow Medium"/>
                </a:rPr>
                <a:t>123 mil</a:t>
              </a:r>
              <a:r>
                <a:rPr lang="en-US" b="true" sz="3199">
                  <a:solidFill>
                    <a:srgbClr val="000000"/>
                  </a:solidFill>
                  <a:latin typeface="Barlow Medium"/>
                  <a:ea typeface="Barlow Medium"/>
                  <a:cs typeface="Barlow Medium"/>
                  <a:sym typeface="Barlow Medium"/>
                </a:rPr>
                <a:t>lion potential customers in industries like e-commerce, finance, and research need structured web data.</a:t>
              </a:r>
            </a:p>
          </p:txBody>
        </p:sp>
      </p:grpSp>
      <p:pic>
        <p:nvPicPr>
          <p:cNvPr name="Picture 11" id="11"/>
          <p:cNvPicPr>
            <a:picLocks noChangeAspect="true"/>
          </p:cNvPicPr>
          <p:nvPr/>
        </p:nvPicPr>
        <p:blipFill>
          <a:blip r:embed="rId2"/>
          <a:stretch>
            <a:fillRect/>
          </a:stretch>
        </p:blipFill>
        <p:spPr>
          <a:xfrm rot="0">
            <a:off x="674552" y="4493818"/>
            <a:ext cx="4249772" cy="2479033"/>
          </a:xfrm>
          <a:prstGeom prst="rect">
            <a:avLst/>
          </a:prstGeom>
        </p:spPr>
      </p:pic>
      <p:pic>
        <p:nvPicPr>
          <p:cNvPr name="Picture 12" id="12"/>
          <p:cNvPicPr>
            <a:picLocks noChangeAspect="true"/>
          </p:cNvPicPr>
          <p:nvPr/>
        </p:nvPicPr>
        <p:blipFill>
          <a:blip r:embed="rId3"/>
          <a:stretch>
            <a:fillRect/>
          </a:stretch>
        </p:blipFill>
        <p:spPr>
          <a:xfrm rot="0">
            <a:off x="674552" y="7932974"/>
            <a:ext cx="4249772" cy="1345761"/>
          </a:xfrm>
          <a:prstGeom prst="rect">
            <a:avLst/>
          </a:prstGeom>
        </p:spPr>
      </p:pic>
      <p:pic>
        <p:nvPicPr>
          <p:cNvPr name="Picture 13" id="13"/>
          <p:cNvPicPr>
            <a:picLocks noChangeAspect="true"/>
          </p:cNvPicPr>
          <p:nvPr/>
        </p:nvPicPr>
        <p:blipFill>
          <a:blip r:embed="rId4"/>
          <a:stretch>
            <a:fillRect/>
          </a:stretch>
        </p:blipFill>
        <p:spPr>
          <a:xfrm rot="0">
            <a:off x="674552" y="1930507"/>
            <a:ext cx="4249772" cy="1919056"/>
          </a:xfrm>
          <a:prstGeom prst="rect">
            <a:avLst/>
          </a:prstGeom>
        </p:spPr>
      </p:pic>
      <p:sp>
        <p:nvSpPr>
          <p:cNvPr name="TextBox 14" id="14"/>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90113E"/>
                </a:solidFill>
                <a:latin typeface="Barlow Semi-Bold"/>
                <a:ea typeface="Barlow Semi-Bold"/>
                <a:cs typeface="Barlow Semi-Bold"/>
                <a:sym typeface="Barlow Semi-Bold"/>
              </a:rPr>
              <a:t>14</a:t>
            </a:r>
          </a:p>
        </p:txBody>
      </p:sp>
      <p:sp>
        <p:nvSpPr>
          <p:cNvPr name="TextBox 15" id="15"/>
          <p:cNvSpPr txBox="true"/>
          <p:nvPr/>
        </p:nvSpPr>
        <p:spPr>
          <a:xfrm rot="0">
            <a:off x="1558682" y="0"/>
            <a:ext cx="9082750" cy="1228725"/>
          </a:xfrm>
          <a:prstGeom prst="rect">
            <a:avLst/>
          </a:prstGeom>
        </p:spPr>
        <p:txBody>
          <a:bodyPr anchor="t" rtlCol="false" tIns="0" lIns="0" bIns="0" rIns="0">
            <a:spAutoFit/>
          </a:bodyPr>
          <a:lstStyle/>
          <a:p>
            <a:pPr algn="l" marL="0" indent="0" lvl="0">
              <a:lnSpc>
                <a:spcPts val="9720"/>
              </a:lnSpc>
            </a:pPr>
            <a:r>
              <a:rPr lang="en-US" b="true" sz="8100">
                <a:solidFill>
                  <a:srgbClr val="00BF63"/>
                </a:solidFill>
                <a:latin typeface="Barlow Semi-Bold"/>
                <a:ea typeface="Barlow Semi-Bold"/>
                <a:cs typeface="Barlow Semi-Bold"/>
                <a:sym typeface="Barlow Semi-Bold"/>
              </a:rPr>
              <a:t>Demand Landscape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8376120" y="1041917"/>
            <a:ext cx="9706762" cy="7876473"/>
          </a:xfrm>
          <a:prstGeom prst="rect">
            <a:avLst/>
          </a:prstGeom>
        </p:spPr>
      </p:pic>
      <p:sp>
        <p:nvSpPr>
          <p:cNvPr name="TextBox 3" id="3"/>
          <p:cNvSpPr txBox="true"/>
          <p:nvPr/>
        </p:nvSpPr>
        <p:spPr>
          <a:xfrm rot="0">
            <a:off x="0" y="2985049"/>
            <a:ext cx="9828838" cy="2467369"/>
          </a:xfrm>
          <a:prstGeom prst="rect">
            <a:avLst/>
          </a:prstGeom>
        </p:spPr>
        <p:txBody>
          <a:bodyPr anchor="t" rtlCol="false" tIns="0" lIns="0" bIns="0" rIns="0">
            <a:spAutoFit/>
          </a:bodyPr>
          <a:lstStyle/>
          <a:p>
            <a:pPr algn="l" marL="482408" indent="-241204" lvl="1">
              <a:lnSpc>
                <a:spcPts val="3351"/>
              </a:lnSpc>
              <a:buFont typeface="Arial"/>
              <a:buChar char="•"/>
            </a:pPr>
            <a:r>
              <a:rPr lang="en-US" b="true" sz="2234">
                <a:solidFill>
                  <a:srgbClr val="000000"/>
                </a:solidFill>
                <a:latin typeface="Barlow Bold"/>
                <a:ea typeface="Barlow Bold"/>
                <a:cs typeface="Barlow Bold"/>
                <a:sym typeface="Barlow Bold"/>
              </a:rPr>
              <a:t>E‑commerce (20%) – Product pricing, competitor monitoring.</a:t>
            </a:r>
          </a:p>
          <a:p>
            <a:pPr algn="l" marL="482408" indent="-241204" lvl="1">
              <a:lnSpc>
                <a:spcPts val="3351"/>
              </a:lnSpc>
              <a:buFont typeface="Arial"/>
              <a:buChar char="•"/>
            </a:pPr>
            <a:r>
              <a:rPr lang="en-US" b="true" sz="2234">
                <a:solidFill>
                  <a:srgbClr val="000000"/>
                </a:solidFill>
                <a:latin typeface="Barlow Bold"/>
                <a:ea typeface="Barlow Bold"/>
                <a:cs typeface="Barlow Bold"/>
                <a:sym typeface="Barlow Bold"/>
              </a:rPr>
              <a:t>Finance (20%) – Market trends, investment insights.</a:t>
            </a:r>
          </a:p>
          <a:p>
            <a:pPr algn="l" marL="482408" indent="-241204" lvl="1">
              <a:lnSpc>
                <a:spcPts val="3351"/>
              </a:lnSpc>
              <a:buFont typeface="Arial"/>
              <a:buChar char="•"/>
            </a:pPr>
            <a:r>
              <a:rPr lang="en-US" b="true" sz="2234">
                <a:solidFill>
                  <a:srgbClr val="000000"/>
                </a:solidFill>
                <a:latin typeface="Barlow Bold"/>
                <a:ea typeface="Barlow Bold"/>
                <a:cs typeface="Barlow Bold"/>
                <a:sym typeface="Barlow Bold"/>
              </a:rPr>
              <a:t>Research &amp; Academia (20%) – Data collection for studies.</a:t>
            </a:r>
          </a:p>
          <a:p>
            <a:pPr algn="l" marL="482408" indent="-241204" lvl="1">
              <a:lnSpc>
                <a:spcPts val="3351"/>
              </a:lnSpc>
              <a:buFont typeface="Arial"/>
              <a:buChar char="•"/>
            </a:pPr>
            <a:r>
              <a:rPr lang="en-US" b="true" sz="2234">
                <a:solidFill>
                  <a:srgbClr val="000000"/>
                </a:solidFill>
                <a:latin typeface="Barlow Bold"/>
                <a:ea typeface="Barlow Bold"/>
                <a:cs typeface="Barlow Bold"/>
                <a:sym typeface="Barlow Bold"/>
              </a:rPr>
              <a:t>Marketing &amp; Advertising (20%) – Consumer sentiment, campaign tracking</a:t>
            </a:r>
          </a:p>
          <a:p>
            <a:pPr algn="l">
              <a:lnSpc>
                <a:spcPts val="3351"/>
              </a:lnSpc>
            </a:pPr>
          </a:p>
          <a:p>
            <a:pPr algn="l">
              <a:lnSpc>
                <a:spcPts val="3128"/>
              </a:lnSpc>
            </a:pPr>
          </a:p>
        </p:txBody>
      </p:sp>
      <p:sp>
        <p:nvSpPr>
          <p:cNvPr name="TextBox 4" id="4"/>
          <p:cNvSpPr txBox="true"/>
          <p:nvPr/>
        </p:nvSpPr>
        <p:spPr>
          <a:xfrm rot="0">
            <a:off x="1028700" y="622869"/>
            <a:ext cx="6896736" cy="1228725"/>
          </a:xfrm>
          <a:prstGeom prst="rect">
            <a:avLst/>
          </a:prstGeom>
        </p:spPr>
        <p:txBody>
          <a:bodyPr anchor="t" rtlCol="false" tIns="0" lIns="0" bIns="0" rIns="0">
            <a:spAutoFit/>
          </a:bodyPr>
          <a:lstStyle/>
          <a:p>
            <a:pPr algn="l" marL="0" indent="0" lvl="0">
              <a:lnSpc>
                <a:spcPts val="9720"/>
              </a:lnSpc>
              <a:spcBef>
                <a:spcPct val="0"/>
              </a:spcBef>
            </a:pPr>
            <a:r>
              <a:rPr lang="en-US" b="true" sz="8100">
                <a:solidFill>
                  <a:srgbClr val="00BF63"/>
                </a:solidFill>
                <a:latin typeface="Barlow Bold"/>
                <a:ea typeface="Barlow Bold"/>
                <a:cs typeface="Barlow Bold"/>
                <a:sym typeface="Barlow Bold"/>
              </a:rPr>
              <a:t>Market Size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602092" y="8998522"/>
            <a:ext cx="18890092" cy="2585870"/>
          </a:xfrm>
          <a:prstGeom prst="rect">
            <a:avLst/>
          </a:prstGeom>
          <a:solidFill>
            <a:srgbClr val="90113E"/>
          </a:solidFill>
        </p:spPr>
      </p:sp>
      <p:grpSp>
        <p:nvGrpSpPr>
          <p:cNvPr name="Group 3" id="3"/>
          <p:cNvGrpSpPr>
            <a:grpSpLocks noChangeAspect="true"/>
          </p:cNvGrpSpPr>
          <p:nvPr/>
        </p:nvGrpSpPr>
        <p:grpSpPr>
          <a:xfrm rot="0">
            <a:off x="232622" y="259778"/>
            <a:ext cx="6812379" cy="8998522"/>
            <a:chOff x="0" y="0"/>
            <a:chExt cx="6438900" cy="8505190"/>
          </a:xfrm>
        </p:grpSpPr>
        <p:sp>
          <p:nvSpPr>
            <p:cNvPr name="Freeform 4" id="4"/>
            <p:cNvSpPr/>
            <p:nvPr/>
          </p:nvSpPr>
          <p:spPr>
            <a:xfrm flipH="false" flipV="false" rot="0">
              <a:off x="0" y="0"/>
              <a:ext cx="6438900" cy="8505190"/>
            </a:xfrm>
            <a:custGeom>
              <a:avLst/>
              <a:gdLst/>
              <a:ahLst/>
              <a:cxnLst/>
              <a:rect r="r" b="b" t="t" l="l"/>
              <a:pathLst>
                <a:path h="8505190" w="6438900">
                  <a:moveTo>
                    <a:pt x="4916170" y="8505190"/>
                  </a:moveTo>
                  <a:lnTo>
                    <a:pt x="4627880" y="8505190"/>
                  </a:lnTo>
                  <a:lnTo>
                    <a:pt x="0" y="8072120"/>
                  </a:lnTo>
                  <a:lnTo>
                    <a:pt x="0" y="4405630"/>
                  </a:lnTo>
                  <a:lnTo>
                    <a:pt x="910590" y="0"/>
                  </a:lnTo>
                  <a:lnTo>
                    <a:pt x="6438900" y="0"/>
                  </a:lnTo>
                  <a:lnTo>
                    <a:pt x="6438900" y="671830"/>
                  </a:lnTo>
                  <a:lnTo>
                    <a:pt x="4916170" y="8505190"/>
                  </a:lnTo>
                  <a:close/>
                </a:path>
              </a:pathLst>
            </a:custGeom>
            <a:blipFill>
              <a:blip r:embed="rId2"/>
              <a:stretch>
                <a:fillRect l="-65869" t="0" r="-65869" b="0"/>
              </a:stretch>
            </a:blipFill>
          </p:spPr>
        </p:sp>
        <p:sp>
          <p:nvSpPr>
            <p:cNvPr name="Freeform 5" id="5"/>
            <p:cNvSpPr/>
            <p:nvPr/>
          </p:nvSpPr>
          <p:spPr>
            <a:xfrm flipH="false" flipV="false" rot="0">
              <a:off x="0" y="0"/>
              <a:ext cx="6438900" cy="8505190"/>
            </a:xfrm>
            <a:custGeom>
              <a:avLst/>
              <a:gdLst/>
              <a:ahLst/>
              <a:cxnLst/>
              <a:rect r="r" b="b" t="t" l="l"/>
              <a:pathLst>
                <a:path h="8505190" w="6438900">
                  <a:moveTo>
                    <a:pt x="910590" y="0"/>
                  </a:moveTo>
                  <a:lnTo>
                    <a:pt x="1898650" y="289560"/>
                  </a:lnTo>
                  <a:lnTo>
                    <a:pt x="0" y="4405630"/>
                  </a:lnTo>
                  <a:lnTo>
                    <a:pt x="910590" y="0"/>
                  </a:lnTo>
                  <a:close/>
                  <a:moveTo>
                    <a:pt x="3253740" y="8047990"/>
                  </a:moveTo>
                  <a:lnTo>
                    <a:pt x="4916170" y="8505190"/>
                  </a:lnTo>
                  <a:lnTo>
                    <a:pt x="6438900" y="671830"/>
                  </a:lnTo>
                  <a:lnTo>
                    <a:pt x="3253740" y="8047990"/>
                  </a:lnTo>
                  <a:close/>
                </a:path>
              </a:pathLst>
            </a:custGeom>
            <a:solidFill>
              <a:srgbClr val="0BB6BC"/>
            </a:solidFill>
          </p:spPr>
        </p:sp>
      </p:grpSp>
      <p:sp>
        <p:nvSpPr>
          <p:cNvPr name="TextBox 6" id="6"/>
          <p:cNvSpPr txBox="true"/>
          <p:nvPr/>
        </p:nvSpPr>
        <p:spPr>
          <a:xfrm rot="0">
            <a:off x="6625692" y="2595181"/>
            <a:ext cx="11223551" cy="5631815"/>
          </a:xfrm>
          <a:prstGeom prst="rect">
            <a:avLst/>
          </a:prstGeom>
        </p:spPr>
        <p:txBody>
          <a:bodyPr anchor="t" rtlCol="false" tIns="0" lIns="0" bIns="0" rIns="0">
            <a:spAutoFit/>
          </a:bodyPr>
          <a:lstStyle/>
          <a:p>
            <a:pPr algn="just" marL="626107" indent="-313054" lvl="1">
              <a:lnSpc>
                <a:spcPts val="4059"/>
              </a:lnSpc>
              <a:buFont typeface="Arial"/>
              <a:buChar char="•"/>
            </a:pPr>
            <a:r>
              <a:rPr lang="en-US" sz="2899">
                <a:solidFill>
                  <a:srgbClr val="000000"/>
                </a:solidFill>
                <a:latin typeface="Garet"/>
                <a:ea typeface="Garet"/>
                <a:cs typeface="Garet"/>
                <a:sym typeface="Garet"/>
              </a:rPr>
              <a:t>Bright Data – A global leader with massive proxy networks and pre-collected datasets, serving large enterprises.</a:t>
            </a:r>
          </a:p>
          <a:p>
            <a:pPr algn="just" marL="626107" indent="-313054" lvl="1">
              <a:lnSpc>
                <a:spcPts val="4059"/>
              </a:lnSpc>
              <a:buFont typeface="Arial"/>
              <a:buChar char="•"/>
            </a:pPr>
            <a:r>
              <a:rPr lang="en-US" sz="2899">
                <a:solidFill>
                  <a:srgbClr val="000000"/>
                </a:solidFill>
                <a:latin typeface="Garet"/>
                <a:ea typeface="Garet"/>
                <a:cs typeface="Garet"/>
                <a:sym typeface="Garet"/>
              </a:rPr>
              <a:t>Zyte (Scrapinghub) – Compliance-focused scraping solutions with strong developer tools and cloud infrastructure.</a:t>
            </a:r>
          </a:p>
          <a:p>
            <a:pPr algn="just" marL="626107" indent="-313054" lvl="1">
              <a:lnSpc>
                <a:spcPts val="4059"/>
              </a:lnSpc>
              <a:buFont typeface="Arial"/>
              <a:buChar char="•"/>
            </a:pPr>
            <a:r>
              <a:rPr lang="en-US" sz="2899">
                <a:solidFill>
                  <a:srgbClr val="000000"/>
                </a:solidFill>
                <a:latin typeface="Garet"/>
                <a:ea typeface="Garet"/>
                <a:cs typeface="Garet"/>
                <a:sym typeface="Garet"/>
              </a:rPr>
              <a:t>Apify – Marketplace of ready-made scrapers (“Actors”), popular with startups and automation developers.</a:t>
            </a:r>
          </a:p>
          <a:p>
            <a:pPr algn="just" marL="626107" indent="-313054" lvl="1">
              <a:lnSpc>
                <a:spcPts val="4059"/>
              </a:lnSpc>
              <a:buFont typeface="Arial"/>
              <a:buChar char="•"/>
            </a:pPr>
            <a:r>
              <a:rPr lang="en-US" sz="2899">
                <a:solidFill>
                  <a:srgbClr val="000000"/>
                </a:solidFill>
                <a:latin typeface="Garet"/>
                <a:ea typeface="Garet"/>
                <a:cs typeface="Garet"/>
                <a:sym typeface="Garet"/>
              </a:rPr>
              <a:t>Oxylabs – Enterprise-scale proxy and scraping services, widely used in e-commerce and finance.</a:t>
            </a:r>
          </a:p>
          <a:p>
            <a:pPr algn="just" marL="0" indent="0" lvl="0">
              <a:lnSpc>
                <a:spcPts val="4059"/>
              </a:lnSpc>
              <a:spcBef>
                <a:spcPct val="0"/>
              </a:spcBef>
            </a:pPr>
          </a:p>
        </p:txBody>
      </p:sp>
      <p:sp>
        <p:nvSpPr>
          <p:cNvPr name="TextBox 7" id="7"/>
          <p:cNvSpPr txBox="true"/>
          <p:nvPr/>
        </p:nvSpPr>
        <p:spPr>
          <a:xfrm rot="0">
            <a:off x="8508761" y="257175"/>
            <a:ext cx="8750539" cy="1238250"/>
          </a:xfrm>
          <a:prstGeom prst="rect">
            <a:avLst/>
          </a:prstGeom>
        </p:spPr>
        <p:txBody>
          <a:bodyPr anchor="t" rtlCol="false" tIns="0" lIns="0" bIns="0" rIns="0">
            <a:spAutoFit/>
          </a:bodyPr>
          <a:lstStyle/>
          <a:p>
            <a:pPr algn="ctr" marL="0" indent="0" lvl="0">
              <a:lnSpc>
                <a:spcPts val="9719"/>
              </a:lnSpc>
            </a:pPr>
            <a:r>
              <a:rPr lang="en-US" b="true" sz="8099">
                <a:solidFill>
                  <a:srgbClr val="00BF63"/>
                </a:solidFill>
                <a:latin typeface="Barlow Bold"/>
                <a:ea typeface="Barlow Bold"/>
                <a:cs typeface="Barlow Bold"/>
                <a:sym typeface="Barlow Bold"/>
              </a:rPr>
              <a:t>Competitors</a:t>
            </a:r>
          </a:p>
        </p:txBody>
      </p:sp>
      <p:sp>
        <p:nvSpPr>
          <p:cNvPr name="TextBox 8" id="8"/>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000000"/>
                </a:solidFill>
                <a:latin typeface="Barlow Semi-Bold"/>
                <a:ea typeface="Barlow Semi-Bold"/>
                <a:cs typeface="Barlow Semi-Bold"/>
                <a:sym typeface="Barlow Semi-Bold"/>
              </a:rPr>
              <a:t>23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05725" y="1028700"/>
            <a:ext cx="13944632" cy="1228725"/>
          </a:xfrm>
          <a:prstGeom prst="rect">
            <a:avLst/>
          </a:prstGeom>
        </p:spPr>
        <p:txBody>
          <a:bodyPr anchor="t" rtlCol="false" tIns="0" lIns="0" bIns="0" rIns="0">
            <a:spAutoFit/>
          </a:bodyPr>
          <a:lstStyle/>
          <a:p>
            <a:pPr algn="l" marL="0" indent="0" lvl="0">
              <a:lnSpc>
                <a:spcPts val="9720"/>
              </a:lnSpc>
            </a:pPr>
            <a:r>
              <a:rPr lang="en-US" b="true" sz="8100">
                <a:solidFill>
                  <a:srgbClr val="00BF63"/>
                </a:solidFill>
                <a:latin typeface="Barlow Bold"/>
                <a:ea typeface="Barlow Bold"/>
                <a:cs typeface="Barlow Bold"/>
                <a:sym typeface="Barlow Bold"/>
              </a:rPr>
              <a:t>Competitive Advantage</a:t>
            </a:r>
          </a:p>
        </p:txBody>
      </p:sp>
      <p:sp>
        <p:nvSpPr>
          <p:cNvPr name="TextBox 3" id="3"/>
          <p:cNvSpPr txBox="true"/>
          <p:nvPr/>
        </p:nvSpPr>
        <p:spPr>
          <a:xfrm rot="0">
            <a:off x="2443163" y="2457457"/>
            <a:ext cx="15635200" cy="6608446"/>
          </a:xfrm>
          <a:prstGeom prst="rect">
            <a:avLst/>
          </a:prstGeom>
        </p:spPr>
        <p:txBody>
          <a:bodyPr anchor="t" rtlCol="false" tIns="0" lIns="0" bIns="0" rIns="0">
            <a:spAutoFit/>
          </a:bodyPr>
          <a:lstStyle/>
          <a:p>
            <a:pPr algn="l" marL="734055" indent="-367027" lvl="1">
              <a:lnSpc>
                <a:spcPts val="4759"/>
              </a:lnSpc>
              <a:buFont typeface="Arial"/>
              <a:buChar char="•"/>
            </a:pPr>
            <a:r>
              <a:rPr lang="en-US" b="true" sz="3399">
                <a:solidFill>
                  <a:srgbClr val="90113E"/>
                </a:solidFill>
                <a:latin typeface="Barlow Medium"/>
                <a:ea typeface="Barlow Medium"/>
                <a:cs typeface="Barlow Medium"/>
                <a:sym typeface="Barlow Medium"/>
              </a:rPr>
              <a:t>Affordable Pricing – I can serve SMEs, NGOs, and startups that big players often overlook because their services are too expensive.</a:t>
            </a:r>
          </a:p>
          <a:p>
            <a:pPr algn="l" marL="734055" indent="-367027" lvl="1">
              <a:lnSpc>
                <a:spcPts val="4759"/>
              </a:lnSpc>
              <a:buFont typeface="Arial"/>
              <a:buChar char="•"/>
            </a:pPr>
            <a:r>
              <a:rPr lang="en-US" b="true" sz="3399">
                <a:solidFill>
                  <a:srgbClr val="90113E"/>
                </a:solidFill>
                <a:latin typeface="Barlow Medium"/>
                <a:ea typeface="Barlow Medium"/>
                <a:cs typeface="Barlow Medium"/>
                <a:sym typeface="Barlow Medium"/>
              </a:rPr>
              <a:t>Customized Solutions – Instead of generic scraping tools, I can build tailored pipelines for specific industries like e‑commerce, research, or local markets.</a:t>
            </a:r>
          </a:p>
          <a:p>
            <a:pPr algn="l" marL="734055" indent="-367027" lvl="1">
              <a:lnSpc>
                <a:spcPts val="4759"/>
              </a:lnSpc>
              <a:buFont typeface="Arial"/>
              <a:buChar char="•"/>
            </a:pPr>
            <a:r>
              <a:rPr lang="en-US" b="true" sz="3399">
                <a:solidFill>
                  <a:srgbClr val="90113E"/>
                </a:solidFill>
                <a:latin typeface="Barlow Medium"/>
                <a:ea typeface="Barlow Medium"/>
                <a:cs typeface="Barlow Medium"/>
                <a:sym typeface="Barlow Medium"/>
              </a:rPr>
              <a:t>Local Market Focus – I can specialize in regions and sectors (like African markets) that global competitors don’t prioritize.</a:t>
            </a:r>
          </a:p>
          <a:p>
            <a:pPr algn="l" marL="734055" indent="-367027" lvl="1">
              <a:lnSpc>
                <a:spcPts val="4759"/>
              </a:lnSpc>
              <a:buFont typeface="Arial"/>
              <a:buChar char="•"/>
            </a:pPr>
            <a:r>
              <a:rPr lang="en-US" b="true" sz="3399">
                <a:solidFill>
                  <a:srgbClr val="90113E"/>
                </a:solidFill>
                <a:latin typeface="Barlow Medium"/>
                <a:ea typeface="Barlow Medium"/>
                <a:cs typeface="Barlow Medium"/>
                <a:sym typeface="Barlow Medium"/>
              </a:rPr>
              <a:t>Ease of Use – Offering simple dashboards or integrations makes my tools accessible even to non‑technical users.</a:t>
            </a:r>
          </a:p>
          <a:p>
            <a:pPr algn="l" marL="734055" indent="-367027" lvl="1">
              <a:lnSpc>
                <a:spcPts val="4759"/>
              </a:lnSpc>
              <a:buFont typeface="Arial"/>
              <a:buChar char="•"/>
            </a:pPr>
            <a:r>
              <a:rPr lang="en-US" b="true" sz="3399">
                <a:solidFill>
                  <a:srgbClr val="90113E"/>
                </a:solidFill>
                <a:latin typeface="Barlow Medium"/>
                <a:ea typeface="Barlow Medium"/>
                <a:cs typeface="Barlow Medium"/>
                <a:sym typeface="Barlow Medium"/>
              </a:rPr>
              <a:t>Ethical &amp; Compliant Practices – By emphasizing transparency and lawful scraping, I build trust in a space where regulations are tightening.</a:t>
            </a:r>
          </a:p>
          <a:p>
            <a:pPr algn="l">
              <a:lnSpc>
                <a:spcPts val="4899"/>
              </a:lnSpc>
            </a:pPr>
          </a:p>
        </p:txBody>
      </p:sp>
      <p:sp>
        <p:nvSpPr>
          <p:cNvPr name="AutoShape 4" id="4"/>
          <p:cNvSpPr/>
          <p:nvPr/>
        </p:nvSpPr>
        <p:spPr>
          <a:xfrm rot="0">
            <a:off x="0" y="0"/>
            <a:ext cx="1902317" cy="10287000"/>
          </a:xfrm>
          <a:prstGeom prst="rect">
            <a:avLst/>
          </a:prstGeom>
          <a:solidFill>
            <a:srgbClr val="90113E"/>
          </a:solidFill>
        </p:spPr>
      </p:sp>
      <p:sp>
        <p:nvSpPr>
          <p:cNvPr name="Freeform 5" id="5"/>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0" t="0" r="-174813" b="0"/>
            </a:stretch>
          </a:blipFill>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703359" y="3971075"/>
            <a:ext cx="14881282" cy="602142"/>
          </a:xfrm>
          <a:prstGeom prst="rect">
            <a:avLst/>
          </a:prstGeom>
          <a:solidFill>
            <a:srgbClr val="90113E">
              <a:alpha val="1961"/>
            </a:srgbClr>
          </a:solidFill>
        </p:spPr>
      </p:sp>
      <p:sp>
        <p:nvSpPr>
          <p:cNvPr name="AutoShape 3" id="3"/>
          <p:cNvSpPr/>
          <p:nvPr/>
        </p:nvSpPr>
        <p:spPr>
          <a:xfrm rot="0">
            <a:off x="1703359" y="5158824"/>
            <a:ext cx="14881282" cy="602142"/>
          </a:xfrm>
          <a:prstGeom prst="rect">
            <a:avLst/>
          </a:prstGeom>
          <a:solidFill>
            <a:srgbClr val="90113E">
              <a:alpha val="1961"/>
            </a:srgbClr>
          </a:solidFill>
        </p:spPr>
      </p:sp>
      <p:sp>
        <p:nvSpPr>
          <p:cNvPr name="AutoShape 4" id="4"/>
          <p:cNvSpPr/>
          <p:nvPr/>
        </p:nvSpPr>
        <p:spPr>
          <a:xfrm rot="0">
            <a:off x="1703359" y="6346573"/>
            <a:ext cx="14881282" cy="602142"/>
          </a:xfrm>
          <a:prstGeom prst="rect">
            <a:avLst/>
          </a:prstGeom>
          <a:solidFill>
            <a:srgbClr val="90113E">
              <a:alpha val="1961"/>
            </a:srgbClr>
          </a:solidFill>
        </p:spPr>
      </p:sp>
      <p:sp>
        <p:nvSpPr>
          <p:cNvPr name="AutoShape 5" id="5"/>
          <p:cNvSpPr/>
          <p:nvPr/>
        </p:nvSpPr>
        <p:spPr>
          <a:xfrm rot="0">
            <a:off x="1703359" y="7534322"/>
            <a:ext cx="14881282" cy="602142"/>
          </a:xfrm>
          <a:prstGeom prst="rect">
            <a:avLst/>
          </a:prstGeom>
          <a:solidFill>
            <a:srgbClr val="90113E">
              <a:alpha val="1961"/>
            </a:srgbClr>
          </a:solidFill>
        </p:spPr>
      </p:sp>
      <p:sp>
        <p:nvSpPr>
          <p:cNvPr name="AutoShape 6" id="6"/>
          <p:cNvSpPr/>
          <p:nvPr/>
        </p:nvSpPr>
        <p:spPr>
          <a:xfrm rot="0">
            <a:off x="1703359" y="3357575"/>
            <a:ext cx="14881282" cy="0"/>
          </a:xfrm>
          <a:prstGeom prst="line">
            <a:avLst/>
          </a:prstGeom>
          <a:ln cap="flat" w="19050">
            <a:solidFill>
              <a:srgbClr val="90113E"/>
            </a:solidFill>
            <a:prstDash val="solid"/>
            <a:headEnd type="none" len="sm" w="sm"/>
            <a:tailEnd type="none" len="sm" w="sm"/>
          </a:ln>
        </p:spPr>
      </p:sp>
      <p:sp>
        <p:nvSpPr>
          <p:cNvPr name="AutoShape 7" id="7"/>
          <p:cNvSpPr/>
          <p:nvPr/>
        </p:nvSpPr>
        <p:spPr>
          <a:xfrm rot="0">
            <a:off x="1703359" y="8136464"/>
            <a:ext cx="14881282" cy="0"/>
          </a:xfrm>
          <a:prstGeom prst="line">
            <a:avLst/>
          </a:prstGeom>
          <a:ln cap="flat" w="19050">
            <a:solidFill>
              <a:srgbClr val="90113E"/>
            </a:solidFill>
            <a:prstDash val="solid"/>
            <a:headEnd type="none" len="sm" w="sm"/>
            <a:tailEnd type="none" len="sm" w="sm"/>
          </a:ln>
        </p:spPr>
      </p:sp>
      <p:sp>
        <p:nvSpPr>
          <p:cNvPr name="AutoShape 8" id="8"/>
          <p:cNvSpPr/>
          <p:nvPr/>
        </p:nvSpPr>
        <p:spPr>
          <a:xfrm rot="0">
            <a:off x="8659450" y="2473365"/>
            <a:ext cx="1972472" cy="894023"/>
          </a:xfrm>
          <a:prstGeom prst="rect">
            <a:avLst/>
          </a:prstGeom>
          <a:solidFill>
            <a:srgbClr val="FFFFFF"/>
          </a:solidFill>
        </p:spPr>
      </p:sp>
      <p:sp>
        <p:nvSpPr>
          <p:cNvPr name="AutoShape 9" id="9"/>
          <p:cNvSpPr/>
          <p:nvPr/>
        </p:nvSpPr>
        <p:spPr>
          <a:xfrm rot="0">
            <a:off x="6673531" y="2473365"/>
            <a:ext cx="1972472" cy="894023"/>
          </a:xfrm>
          <a:prstGeom prst="rect">
            <a:avLst/>
          </a:prstGeom>
          <a:solidFill>
            <a:srgbClr val="FFFFFF"/>
          </a:solidFill>
        </p:spPr>
      </p:sp>
      <p:sp>
        <p:nvSpPr>
          <p:cNvPr name="TextBox 10" id="10"/>
          <p:cNvSpPr txBox="true"/>
          <p:nvPr/>
        </p:nvSpPr>
        <p:spPr>
          <a:xfrm rot="0">
            <a:off x="6913736" y="2694518"/>
            <a:ext cx="1524842" cy="391529"/>
          </a:xfrm>
          <a:prstGeom prst="rect">
            <a:avLst/>
          </a:prstGeom>
        </p:spPr>
        <p:txBody>
          <a:bodyPr anchor="t" rtlCol="false" tIns="0" lIns="0" bIns="0" rIns="0">
            <a:spAutoFit/>
          </a:bodyPr>
          <a:lstStyle/>
          <a:p>
            <a:pPr algn="ctr" marL="0" indent="0" lvl="0">
              <a:lnSpc>
                <a:spcPts val="3220"/>
              </a:lnSpc>
              <a:spcBef>
                <a:spcPct val="0"/>
              </a:spcBef>
            </a:pPr>
            <a:r>
              <a:rPr lang="en-US" sz="2300" u="none">
                <a:solidFill>
                  <a:srgbClr val="90113E"/>
                </a:solidFill>
                <a:latin typeface="Barlow"/>
                <a:ea typeface="Barlow"/>
                <a:cs typeface="Barlow"/>
                <a:sym typeface="Barlow"/>
              </a:rPr>
              <a:t>Month 1</a:t>
            </a:r>
          </a:p>
        </p:txBody>
      </p:sp>
      <p:sp>
        <p:nvSpPr>
          <p:cNvPr name="TextBox 11" id="11"/>
          <p:cNvSpPr txBox="true"/>
          <p:nvPr/>
        </p:nvSpPr>
        <p:spPr>
          <a:xfrm rot="0">
            <a:off x="9075969" y="2694518"/>
            <a:ext cx="1316017" cy="391529"/>
          </a:xfrm>
          <a:prstGeom prst="rect">
            <a:avLst/>
          </a:prstGeom>
        </p:spPr>
        <p:txBody>
          <a:bodyPr anchor="t" rtlCol="false" tIns="0" lIns="0" bIns="0" rIns="0">
            <a:spAutoFit/>
          </a:bodyPr>
          <a:lstStyle/>
          <a:p>
            <a:pPr algn="ctr" marL="0" indent="0" lvl="0">
              <a:lnSpc>
                <a:spcPts val="3220"/>
              </a:lnSpc>
              <a:spcBef>
                <a:spcPct val="0"/>
              </a:spcBef>
            </a:pPr>
            <a:r>
              <a:rPr lang="en-US" sz="2300" u="none">
                <a:solidFill>
                  <a:srgbClr val="90113E"/>
                </a:solidFill>
                <a:latin typeface="Barlow"/>
                <a:ea typeface="Barlow"/>
                <a:cs typeface="Barlow"/>
                <a:sym typeface="Barlow"/>
              </a:rPr>
              <a:t>Month 2</a:t>
            </a:r>
          </a:p>
        </p:txBody>
      </p:sp>
      <p:sp>
        <p:nvSpPr>
          <p:cNvPr name="AutoShape 12" id="12"/>
          <p:cNvSpPr/>
          <p:nvPr/>
        </p:nvSpPr>
        <p:spPr>
          <a:xfrm rot="0">
            <a:off x="10645368" y="2473365"/>
            <a:ext cx="1972472" cy="894023"/>
          </a:xfrm>
          <a:prstGeom prst="rect">
            <a:avLst/>
          </a:prstGeom>
          <a:solidFill>
            <a:srgbClr val="FFFFFF"/>
          </a:solidFill>
        </p:spPr>
      </p:sp>
      <p:sp>
        <p:nvSpPr>
          <p:cNvPr name="TextBox 13" id="13"/>
          <p:cNvSpPr txBox="true"/>
          <p:nvPr/>
        </p:nvSpPr>
        <p:spPr>
          <a:xfrm rot="0">
            <a:off x="11029376" y="2694518"/>
            <a:ext cx="1316017" cy="391529"/>
          </a:xfrm>
          <a:prstGeom prst="rect">
            <a:avLst/>
          </a:prstGeom>
        </p:spPr>
        <p:txBody>
          <a:bodyPr anchor="t" rtlCol="false" tIns="0" lIns="0" bIns="0" rIns="0">
            <a:spAutoFit/>
          </a:bodyPr>
          <a:lstStyle/>
          <a:p>
            <a:pPr algn="ctr" marL="0" indent="0" lvl="0">
              <a:lnSpc>
                <a:spcPts val="3220"/>
              </a:lnSpc>
              <a:spcBef>
                <a:spcPct val="0"/>
              </a:spcBef>
            </a:pPr>
            <a:r>
              <a:rPr lang="en-US" sz="2300" u="none">
                <a:solidFill>
                  <a:srgbClr val="90113E"/>
                </a:solidFill>
                <a:latin typeface="Barlow"/>
                <a:ea typeface="Barlow"/>
                <a:cs typeface="Barlow"/>
                <a:sym typeface="Barlow"/>
              </a:rPr>
              <a:t>Month 3</a:t>
            </a:r>
          </a:p>
        </p:txBody>
      </p:sp>
      <p:sp>
        <p:nvSpPr>
          <p:cNvPr name="AutoShape 14" id="14"/>
          <p:cNvSpPr/>
          <p:nvPr/>
        </p:nvSpPr>
        <p:spPr>
          <a:xfrm rot="0">
            <a:off x="12631287" y="2473365"/>
            <a:ext cx="1972472" cy="894023"/>
          </a:xfrm>
          <a:prstGeom prst="rect">
            <a:avLst/>
          </a:prstGeom>
          <a:solidFill>
            <a:srgbClr val="FFFFFF"/>
          </a:solidFill>
        </p:spPr>
      </p:sp>
      <p:sp>
        <p:nvSpPr>
          <p:cNvPr name="AutoShape 15" id="15"/>
          <p:cNvSpPr/>
          <p:nvPr/>
        </p:nvSpPr>
        <p:spPr>
          <a:xfrm rot="0">
            <a:off x="14612169" y="2467083"/>
            <a:ext cx="1972472" cy="894023"/>
          </a:xfrm>
          <a:prstGeom prst="rect">
            <a:avLst/>
          </a:prstGeom>
          <a:solidFill>
            <a:srgbClr val="FFFFFF"/>
          </a:solidFill>
        </p:spPr>
      </p:sp>
      <p:sp>
        <p:nvSpPr>
          <p:cNvPr name="TextBox 16" id="16"/>
          <p:cNvSpPr txBox="true"/>
          <p:nvPr/>
        </p:nvSpPr>
        <p:spPr>
          <a:xfrm rot="0">
            <a:off x="12982784" y="2694518"/>
            <a:ext cx="1316017" cy="391529"/>
          </a:xfrm>
          <a:prstGeom prst="rect">
            <a:avLst/>
          </a:prstGeom>
        </p:spPr>
        <p:txBody>
          <a:bodyPr anchor="t" rtlCol="false" tIns="0" lIns="0" bIns="0" rIns="0">
            <a:spAutoFit/>
          </a:bodyPr>
          <a:lstStyle/>
          <a:p>
            <a:pPr algn="ctr" marL="0" indent="0" lvl="0">
              <a:lnSpc>
                <a:spcPts val="3220"/>
              </a:lnSpc>
              <a:spcBef>
                <a:spcPct val="0"/>
              </a:spcBef>
            </a:pPr>
            <a:r>
              <a:rPr lang="en-US" sz="2300" u="none">
                <a:solidFill>
                  <a:srgbClr val="90113E"/>
                </a:solidFill>
                <a:latin typeface="Barlow"/>
                <a:ea typeface="Barlow"/>
                <a:cs typeface="Barlow"/>
                <a:sym typeface="Barlow"/>
              </a:rPr>
              <a:t>Month 4</a:t>
            </a:r>
          </a:p>
        </p:txBody>
      </p:sp>
      <p:sp>
        <p:nvSpPr>
          <p:cNvPr name="TextBox 17" id="17"/>
          <p:cNvSpPr txBox="true"/>
          <p:nvPr/>
        </p:nvSpPr>
        <p:spPr>
          <a:xfrm rot="0">
            <a:off x="14936191" y="2694518"/>
            <a:ext cx="1316017" cy="391529"/>
          </a:xfrm>
          <a:prstGeom prst="rect">
            <a:avLst/>
          </a:prstGeom>
        </p:spPr>
        <p:txBody>
          <a:bodyPr anchor="t" rtlCol="false" tIns="0" lIns="0" bIns="0" rIns="0">
            <a:spAutoFit/>
          </a:bodyPr>
          <a:lstStyle/>
          <a:p>
            <a:pPr algn="ctr" marL="0" indent="0" lvl="0">
              <a:lnSpc>
                <a:spcPts val="3220"/>
              </a:lnSpc>
              <a:spcBef>
                <a:spcPct val="0"/>
              </a:spcBef>
            </a:pPr>
            <a:r>
              <a:rPr lang="en-US" sz="2300" u="none">
                <a:solidFill>
                  <a:srgbClr val="90113E"/>
                </a:solidFill>
                <a:latin typeface="Barlow"/>
                <a:ea typeface="Barlow"/>
                <a:cs typeface="Barlow"/>
                <a:sym typeface="Barlow"/>
              </a:rPr>
              <a:t>Month 5</a:t>
            </a:r>
          </a:p>
        </p:txBody>
      </p:sp>
      <p:sp>
        <p:nvSpPr>
          <p:cNvPr name="TextBox 18" id="18"/>
          <p:cNvSpPr txBox="true"/>
          <p:nvPr/>
        </p:nvSpPr>
        <p:spPr>
          <a:xfrm rot="0">
            <a:off x="2068802" y="2696086"/>
            <a:ext cx="4370690" cy="389255"/>
          </a:xfrm>
          <a:prstGeom prst="rect">
            <a:avLst/>
          </a:prstGeom>
        </p:spPr>
        <p:txBody>
          <a:bodyPr anchor="t" rtlCol="false" tIns="0" lIns="0" bIns="0" rIns="0">
            <a:spAutoFit/>
          </a:bodyPr>
          <a:lstStyle/>
          <a:p>
            <a:pPr algn="just" marL="0" indent="0" lvl="0">
              <a:lnSpc>
                <a:spcPts val="3220"/>
              </a:lnSpc>
              <a:spcBef>
                <a:spcPct val="0"/>
              </a:spcBef>
            </a:pPr>
            <a:r>
              <a:rPr lang="en-US" sz="2300" u="none">
                <a:solidFill>
                  <a:srgbClr val="90113E"/>
                </a:solidFill>
                <a:latin typeface="Barlow"/>
                <a:ea typeface="Barlow"/>
                <a:cs typeface="Barlow"/>
                <a:sym typeface="Barlow"/>
              </a:rPr>
              <a:t>Tasks</a:t>
            </a:r>
          </a:p>
        </p:txBody>
      </p:sp>
      <p:sp>
        <p:nvSpPr>
          <p:cNvPr name="TextBox 19" id="19"/>
          <p:cNvSpPr txBox="true"/>
          <p:nvPr/>
        </p:nvSpPr>
        <p:spPr>
          <a:xfrm rot="0">
            <a:off x="1997743" y="3419744"/>
            <a:ext cx="4441750" cy="397179"/>
          </a:xfrm>
          <a:prstGeom prst="rect">
            <a:avLst/>
          </a:prstGeom>
        </p:spPr>
        <p:txBody>
          <a:bodyPr anchor="t" rtlCol="false" tIns="0" lIns="0" bIns="0" rIns="0">
            <a:spAutoFit/>
          </a:bodyPr>
          <a:lstStyle/>
          <a:p>
            <a:pPr algn="just" marL="0" indent="0" lvl="0">
              <a:lnSpc>
                <a:spcPts val="3220"/>
              </a:lnSpc>
              <a:spcBef>
                <a:spcPct val="0"/>
              </a:spcBef>
            </a:pPr>
            <a:r>
              <a:rPr lang="en-US" sz="2300">
                <a:solidFill>
                  <a:srgbClr val="90113E"/>
                </a:solidFill>
                <a:latin typeface="Barlow"/>
                <a:ea typeface="Barlow"/>
                <a:cs typeface="Barlow"/>
                <a:sym typeface="Barlow"/>
              </a:rPr>
              <a:t>Learn basic and Python foundation</a:t>
            </a:r>
          </a:p>
        </p:txBody>
      </p:sp>
      <p:sp>
        <p:nvSpPr>
          <p:cNvPr name="TextBox 20" id="20"/>
          <p:cNvSpPr txBox="true"/>
          <p:nvPr/>
        </p:nvSpPr>
        <p:spPr>
          <a:xfrm rot="0">
            <a:off x="1997743" y="4022985"/>
            <a:ext cx="4441750" cy="397179"/>
          </a:xfrm>
          <a:prstGeom prst="rect">
            <a:avLst/>
          </a:prstGeom>
        </p:spPr>
        <p:txBody>
          <a:bodyPr anchor="t" rtlCol="false" tIns="0" lIns="0" bIns="0" rIns="0">
            <a:spAutoFit/>
          </a:bodyPr>
          <a:lstStyle/>
          <a:p>
            <a:pPr algn="just" marL="0" indent="0" lvl="0">
              <a:lnSpc>
                <a:spcPts val="3220"/>
              </a:lnSpc>
              <a:spcBef>
                <a:spcPct val="0"/>
              </a:spcBef>
            </a:pPr>
            <a:r>
              <a:rPr lang="en-US" sz="2300">
                <a:solidFill>
                  <a:srgbClr val="90113E"/>
                </a:solidFill>
                <a:latin typeface="Barlow"/>
                <a:ea typeface="Barlow"/>
                <a:cs typeface="Barlow"/>
                <a:sym typeface="Barlow"/>
              </a:rPr>
              <a:t>Intermediate Python</a:t>
            </a:r>
          </a:p>
        </p:txBody>
      </p:sp>
      <p:sp>
        <p:nvSpPr>
          <p:cNvPr name="TextBox 21" id="21"/>
          <p:cNvSpPr txBox="true"/>
          <p:nvPr/>
        </p:nvSpPr>
        <p:spPr>
          <a:xfrm rot="0">
            <a:off x="1997743" y="4626226"/>
            <a:ext cx="5661851" cy="397179"/>
          </a:xfrm>
          <a:prstGeom prst="rect">
            <a:avLst/>
          </a:prstGeom>
        </p:spPr>
        <p:txBody>
          <a:bodyPr anchor="t" rtlCol="false" tIns="0" lIns="0" bIns="0" rIns="0">
            <a:spAutoFit/>
          </a:bodyPr>
          <a:lstStyle/>
          <a:p>
            <a:pPr algn="just" marL="0" indent="0" lvl="0">
              <a:lnSpc>
                <a:spcPts val="3220"/>
              </a:lnSpc>
              <a:spcBef>
                <a:spcPct val="0"/>
              </a:spcBef>
            </a:pPr>
            <a:r>
              <a:rPr lang="en-US" sz="2300">
                <a:solidFill>
                  <a:srgbClr val="90113E"/>
                </a:solidFill>
                <a:latin typeface="Barlow"/>
                <a:ea typeface="Barlow"/>
                <a:cs typeface="Barlow"/>
                <a:sym typeface="Barlow"/>
              </a:rPr>
              <a:t>Learning Python libraries for data engineer</a:t>
            </a:r>
          </a:p>
        </p:txBody>
      </p:sp>
      <p:sp>
        <p:nvSpPr>
          <p:cNvPr name="TextBox 22" id="22"/>
          <p:cNvSpPr txBox="true"/>
          <p:nvPr/>
        </p:nvSpPr>
        <p:spPr>
          <a:xfrm rot="0">
            <a:off x="1997743" y="5229466"/>
            <a:ext cx="4441750" cy="397179"/>
          </a:xfrm>
          <a:prstGeom prst="rect">
            <a:avLst/>
          </a:prstGeom>
        </p:spPr>
        <p:txBody>
          <a:bodyPr anchor="t" rtlCol="false" tIns="0" lIns="0" bIns="0" rIns="0">
            <a:spAutoFit/>
          </a:bodyPr>
          <a:lstStyle/>
          <a:p>
            <a:pPr algn="just" marL="0" indent="0" lvl="0">
              <a:lnSpc>
                <a:spcPts val="3220"/>
              </a:lnSpc>
              <a:spcBef>
                <a:spcPct val="0"/>
              </a:spcBef>
            </a:pPr>
            <a:r>
              <a:rPr lang="en-US" sz="2300">
                <a:solidFill>
                  <a:srgbClr val="90113E"/>
                </a:solidFill>
                <a:latin typeface="Barlow"/>
                <a:ea typeface="Barlow"/>
                <a:cs typeface="Barlow"/>
                <a:sym typeface="Barlow"/>
              </a:rPr>
              <a:t>Start practice webscraping</a:t>
            </a:r>
          </a:p>
        </p:txBody>
      </p:sp>
      <p:sp>
        <p:nvSpPr>
          <p:cNvPr name="TextBox 23" id="23"/>
          <p:cNvSpPr txBox="true"/>
          <p:nvPr/>
        </p:nvSpPr>
        <p:spPr>
          <a:xfrm rot="0">
            <a:off x="1997743" y="5832707"/>
            <a:ext cx="4441750" cy="397179"/>
          </a:xfrm>
          <a:prstGeom prst="rect">
            <a:avLst/>
          </a:prstGeom>
        </p:spPr>
        <p:txBody>
          <a:bodyPr anchor="t" rtlCol="false" tIns="0" lIns="0" bIns="0" rIns="0">
            <a:spAutoFit/>
          </a:bodyPr>
          <a:lstStyle/>
          <a:p>
            <a:pPr algn="just" marL="0" indent="0" lvl="0">
              <a:lnSpc>
                <a:spcPts val="3220"/>
              </a:lnSpc>
              <a:spcBef>
                <a:spcPct val="0"/>
              </a:spcBef>
            </a:pPr>
            <a:r>
              <a:rPr lang="en-US" sz="2300">
                <a:solidFill>
                  <a:srgbClr val="90113E"/>
                </a:solidFill>
                <a:latin typeface="Barlow"/>
                <a:ea typeface="Barlow"/>
                <a:cs typeface="Barlow"/>
                <a:sym typeface="Barlow"/>
              </a:rPr>
              <a:t>Specialization phase</a:t>
            </a:r>
          </a:p>
        </p:txBody>
      </p:sp>
      <p:sp>
        <p:nvSpPr>
          <p:cNvPr name="AutoShape 24" id="24"/>
          <p:cNvSpPr/>
          <p:nvPr/>
        </p:nvSpPr>
        <p:spPr>
          <a:xfrm rot="0">
            <a:off x="6673184" y="3424302"/>
            <a:ext cx="1972820" cy="0"/>
          </a:xfrm>
          <a:prstGeom prst="line">
            <a:avLst/>
          </a:prstGeom>
          <a:ln cap="flat" w="485775">
            <a:solidFill>
              <a:srgbClr val="90113E"/>
            </a:solidFill>
            <a:prstDash val="solid"/>
            <a:headEnd type="none" len="sm" w="sm"/>
            <a:tailEnd type="none" len="sm" w="sm"/>
          </a:ln>
        </p:spPr>
      </p:sp>
      <p:sp>
        <p:nvSpPr>
          <p:cNvPr name="AutoShape 25" id="25"/>
          <p:cNvSpPr/>
          <p:nvPr/>
        </p:nvSpPr>
        <p:spPr>
          <a:xfrm rot="0">
            <a:off x="7659594" y="4027543"/>
            <a:ext cx="2972328" cy="0"/>
          </a:xfrm>
          <a:prstGeom prst="line">
            <a:avLst/>
          </a:prstGeom>
          <a:ln cap="flat" w="485775">
            <a:solidFill>
              <a:srgbClr val="0BB6BC"/>
            </a:solidFill>
            <a:prstDash val="solid"/>
            <a:headEnd type="none" len="sm" w="sm"/>
            <a:tailEnd type="none" len="sm" w="sm"/>
          </a:ln>
        </p:spPr>
      </p:sp>
      <p:sp>
        <p:nvSpPr>
          <p:cNvPr name="AutoShape 26" id="26"/>
          <p:cNvSpPr/>
          <p:nvPr/>
        </p:nvSpPr>
        <p:spPr>
          <a:xfrm rot="0">
            <a:off x="7659594" y="4603308"/>
            <a:ext cx="2012985" cy="0"/>
          </a:xfrm>
          <a:prstGeom prst="line">
            <a:avLst/>
          </a:prstGeom>
          <a:ln cap="flat" w="485775">
            <a:solidFill>
              <a:srgbClr val="FF66C4"/>
            </a:solidFill>
            <a:prstDash val="solid"/>
            <a:headEnd type="none" len="sm" w="sm"/>
            <a:tailEnd type="none" len="sm" w="sm"/>
          </a:ln>
        </p:spPr>
      </p:sp>
      <p:sp>
        <p:nvSpPr>
          <p:cNvPr name="AutoShape 27" id="27"/>
          <p:cNvSpPr/>
          <p:nvPr/>
        </p:nvSpPr>
        <p:spPr>
          <a:xfrm rot="0">
            <a:off x="12631287" y="6402324"/>
            <a:ext cx="2962913" cy="0"/>
          </a:xfrm>
          <a:prstGeom prst="line">
            <a:avLst/>
          </a:prstGeom>
          <a:ln cap="flat" w="485775">
            <a:solidFill>
              <a:srgbClr val="083169"/>
            </a:solidFill>
            <a:prstDash val="solid"/>
            <a:headEnd type="none" len="sm" w="sm"/>
            <a:tailEnd type="none" len="sm" w="sm"/>
          </a:ln>
        </p:spPr>
      </p:sp>
      <p:sp>
        <p:nvSpPr>
          <p:cNvPr name="AutoShape 28" id="28"/>
          <p:cNvSpPr/>
          <p:nvPr/>
        </p:nvSpPr>
        <p:spPr>
          <a:xfrm rot="0">
            <a:off x="14603759" y="6996645"/>
            <a:ext cx="1980882" cy="0"/>
          </a:xfrm>
          <a:prstGeom prst="line">
            <a:avLst/>
          </a:prstGeom>
          <a:ln cap="flat" w="485775">
            <a:solidFill>
              <a:srgbClr val="CF6E38"/>
            </a:solidFill>
            <a:prstDash val="solid"/>
            <a:headEnd type="none" len="sm" w="sm"/>
            <a:tailEnd type="none" len="sm" w="sm"/>
          </a:ln>
        </p:spPr>
      </p:sp>
      <p:sp>
        <p:nvSpPr>
          <p:cNvPr name="AutoShape 29" id="29"/>
          <p:cNvSpPr/>
          <p:nvPr/>
        </p:nvSpPr>
        <p:spPr>
          <a:xfrm rot="0">
            <a:off x="15598405" y="7590073"/>
            <a:ext cx="986236" cy="0"/>
          </a:xfrm>
          <a:prstGeom prst="line">
            <a:avLst/>
          </a:prstGeom>
          <a:ln cap="flat" w="485775">
            <a:solidFill>
              <a:srgbClr val="FF5757"/>
            </a:solidFill>
            <a:prstDash val="solid"/>
            <a:headEnd type="none" len="sm" w="sm"/>
            <a:tailEnd type="none" len="sm" w="sm"/>
          </a:ln>
        </p:spPr>
      </p:sp>
      <p:sp>
        <p:nvSpPr>
          <p:cNvPr name="AutoShape 30" id="30"/>
          <p:cNvSpPr/>
          <p:nvPr/>
        </p:nvSpPr>
        <p:spPr>
          <a:xfrm rot="0">
            <a:off x="10645368" y="5214576"/>
            <a:ext cx="3966801" cy="0"/>
          </a:xfrm>
          <a:prstGeom prst="line">
            <a:avLst/>
          </a:prstGeom>
          <a:ln cap="flat" w="485775">
            <a:solidFill>
              <a:srgbClr val="FFDE59"/>
            </a:solidFill>
            <a:prstDash val="solid"/>
            <a:headEnd type="none" len="sm" w="sm"/>
            <a:tailEnd type="none" len="sm" w="sm"/>
          </a:ln>
        </p:spPr>
      </p:sp>
      <p:sp>
        <p:nvSpPr>
          <p:cNvPr name="AutoShape 31" id="31"/>
          <p:cNvSpPr/>
          <p:nvPr/>
        </p:nvSpPr>
        <p:spPr>
          <a:xfrm rot="0">
            <a:off x="9672578" y="5809789"/>
            <a:ext cx="3944944" cy="0"/>
          </a:xfrm>
          <a:prstGeom prst="line">
            <a:avLst/>
          </a:prstGeom>
          <a:ln cap="flat" w="485775">
            <a:solidFill>
              <a:srgbClr val="00BF63"/>
            </a:solidFill>
            <a:prstDash val="solid"/>
            <a:headEnd type="none" len="sm" w="sm"/>
            <a:tailEnd type="none" len="sm" w="sm"/>
          </a:ln>
        </p:spPr>
      </p:sp>
      <p:sp>
        <p:nvSpPr>
          <p:cNvPr name="TextBox 32" id="32"/>
          <p:cNvSpPr txBox="true"/>
          <p:nvPr/>
        </p:nvSpPr>
        <p:spPr>
          <a:xfrm rot="0">
            <a:off x="1703359" y="343008"/>
            <a:ext cx="7942327" cy="1238250"/>
          </a:xfrm>
          <a:prstGeom prst="rect">
            <a:avLst/>
          </a:prstGeom>
        </p:spPr>
        <p:txBody>
          <a:bodyPr anchor="t" rtlCol="false" tIns="0" lIns="0" bIns="0" rIns="0">
            <a:spAutoFit/>
          </a:bodyPr>
          <a:lstStyle/>
          <a:p>
            <a:pPr algn="l" marL="0" indent="0" lvl="0">
              <a:lnSpc>
                <a:spcPts val="9719"/>
              </a:lnSpc>
            </a:pPr>
            <a:r>
              <a:rPr lang="en-US" b="true" sz="8099">
                <a:solidFill>
                  <a:srgbClr val="00BF63"/>
                </a:solidFill>
                <a:latin typeface="Barlow Semi-Bold"/>
                <a:ea typeface="Barlow Semi-Bold"/>
                <a:cs typeface="Barlow Semi-Bold"/>
                <a:sym typeface="Barlow Semi-Bold"/>
              </a:rPr>
              <a:t>Project Traction</a:t>
            </a:r>
          </a:p>
        </p:txBody>
      </p:sp>
      <p:sp>
        <p:nvSpPr>
          <p:cNvPr name="AutoShape 33" id="33"/>
          <p:cNvSpPr/>
          <p:nvPr/>
        </p:nvSpPr>
        <p:spPr>
          <a:xfrm rot="0">
            <a:off x="-602092" y="8998522"/>
            <a:ext cx="18890092" cy="2585870"/>
          </a:xfrm>
          <a:prstGeom prst="rect">
            <a:avLst/>
          </a:prstGeom>
          <a:solidFill>
            <a:srgbClr val="00BF63"/>
          </a:solidFill>
        </p:spPr>
      </p:sp>
      <p:sp>
        <p:nvSpPr>
          <p:cNvPr name="TextBox 34" id="34"/>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000000"/>
                </a:solidFill>
                <a:latin typeface="Barlow Semi-Bold"/>
                <a:ea typeface="Barlow Semi-Bold"/>
                <a:cs typeface="Barlow Semi-Bold"/>
                <a:sym typeface="Barlow Semi-Bold"/>
              </a:rPr>
              <a:t>23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341197" cy="10287000"/>
            <a:chOff x="0" y="0"/>
            <a:chExt cx="12454930" cy="13716000"/>
          </a:xfrm>
        </p:grpSpPr>
        <p:sp>
          <p:nvSpPr>
            <p:cNvPr name="AutoShape 3" id="3"/>
            <p:cNvSpPr/>
            <p:nvPr/>
          </p:nvSpPr>
          <p:spPr>
            <a:xfrm>
              <a:off x="0" y="0"/>
              <a:ext cx="12454930" cy="13716000"/>
            </a:xfrm>
            <a:prstGeom prst="rect">
              <a:avLst/>
            </a:prstGeom>
            <a:solidFill>
              <a:srgbClr val="00BF63"/>
            </a:solidFill>
          </p:spPr>
        </p:sp>
      </p:grpSp>
      <p:sp>
        <p:nvSpPr>
          <p:cNvPr name="Freeform 4" id="4"/>
          <p:cNvSpPr/>
          <p:nvPr/>
        </p:nvSpPr>
        <p:spPr>
          <a:xfrm flipH="false" flipV="false" rot="0">
            <a:off x="1028700" y="2583708"/>
            <a:ext cx="6200420" cy="6200420"/>
          </a:xfrm>
          <a:custGeom>
            <a:avLst/>
            <a:gdLst/>
            <a:ahLst/>
            <a:cxnLst/>
            <a:rect r="r" b="b" t="t" l="l"/>
            <a:pathLst>
              <a:path h="6200420" w="6200420">
                <a:moveTo>
                  <a:pt x="0" y="0"/>
                </a:moveTo>
                <a:lnTo>
                  <a:pt x="6200420" y="0"/>
                </a:lnTo>
                <a:lnTo>
                  <a:pt x="6200420" y="6200420"/>
                </a:lnTo>
                <a:lnTo>
                  <a:pt x="0" y="62004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404813"/>
            <a:ext cx="14733814" cy="1238250"/>
          </a:xfrm>
          <a:prstGeom prst="rect">
            <a:avLst/>
          </a:prstGeom>
        </p:spPr>
        <p:txBody>
          <a:bodyPr anchor="t" rtlCol="false" tIns="0" lIns="0" bIns="0" rIns="0">
            <a:spAutoFit/>
          </a:bodyPr>
          <a:lstStyle/>
          <a:p>
            <a:pPr algn="l" marL="0" indent="0" lvl="0">
              <a:lnSpc>
                <a:spcPts val="9719"/>
              </a:lnSpc>
            </a:pPr>
            <a:r>
              <a:rPr lang="en-US" b="true" sz="8099">
                <a:solidFill>
                  <a:srgbClr val="00BF63"/>
                </a:solidFill>
                <a:latin typeface="Barlow Semi-Bold"/>
                <a:ea typeface="Barlow Semi-Bold"/>
                <a:cs typeface="Barlow Semi-Bold"/>
                <a:sym typeface="Barlow Semi-Bold"/>
              </a:rPr>
              <a:t>Business Model</a:t>
            </a:r>
          </a:p>
        </p:txBody>
      </p:sp>
      <p:sp>
        <p:nvSpPr>
          <p:cNvPr name="TextBox 6" id="6"/>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000000"/>
                </a:solidFill>
                <a:latin typeface="Barlow Semi-Bold"/>
                <a:ea typeface="Barlow Semi-Bold"/>
                <a:cs typeface="Barlow Semi-Bold"/>
                <a:sym typeface="Barlow Semi-Bold"/>
              </a:rPr>
              <a:t>23</a:t>
            </a:r>
          </a:p>
        </p:txBody>
      </p:sp>
      <p:sp>
        <p:nvSpPr>
          <p:cNvPr name="TextBox 7" id="7"/>
          <p:cNvSpPr txBox="true"/>
          <p:nvPr/>
        </p:nvSpPr>
        <p:spPr>
          <a:xfrm rot="0">
            <a:off x="9491802" y="338138"/>
            <a:ext cx="8645593" cy="9628346"/>
          </a:xfrm>
          <a:prstGeom prst="rect">
            <a:avLst/>
          </a:prstGeom>
        </p:spPr>
        <p:txBody>
          <a:bodyPr anchor="t" rtlCol="false" tIns="0" lIns="0" bIns="0" rIns="0">
            <a:spAutoFit/>
          </a:bodyPr>
          <a:lstStyle/>
          <a:p>
            <a:pPr algn="ctr" marL="902737" indent="-451368" lvl="1">
              <a:lnSpc>
                <a:spcPts val="5853"/>
              </a:lnSpc>
              <a:buFont typeface="Arial"/>
              <a:buChar char="•"/>
            </a:pPr>
            <a:r>
              <a:rPr lang="en-US" sz="4181" spc="20">
                <a:solidFill>
                  <a:srgbClr val="000000"/>
                </a:solidFill>
                <a:latin typeface="Canva Sans"/>
                <a:ea typeface="Canva Sans"/>
                <a:cs typeface="Canva Sans"/>
                <a:sym typeface="Canva Sans"/>
              </a:rPr>
              <a:t>Sta</a:t>
            </a:r>
            <a:r>
              <a:rPr lang="en-US" sz="4181" spc="20">
                <a:solidFill>
                  <a:srgbClr val="000000"/>
                </a:solidFill>
                <a:latin typeface="Canva Sans"/>
                <a:ea typeface="Canva Sans"/>
                <a:cs typeface="Canva Sans"/>
                <a:sym typeface="Canva Sans"/>
              </a:rPr>
              <a:t>rter Plan – $49/month for small SMEs needing basic scraping (limited pages, simple datasets).</a:t>
            </a:r>
          </a:p>
          <a:p>
            <a:pPr algn="ctr" marL="902737" indent="-451368" lvl="1">
              <a:lnSpc>
                <a:spcPts val="5853"/>
              </a:lnSpc>
              <a:buFont typeface="Arial"/>
              <a:buChar char="•"/>
            </a:pPr>
            <a:r>
              <a:rPr lang="en-US" sz="4181" spc="20">
                <a:solidFill>
                  <a:srgbClr val="000000"/>
                </a:solidFill>
                <a:latin typeface="Canva Sans"/>
                <a:ea typeface="Canva Sans"/>
                <a:cs typeface="Canva Sans"/>
                <a:sym typeface="Canva Sans"/>
              </a:rPr>
              <a:t>Grow</a:t>
            </a:r>
            <a:r>
              <a:rPr lang="en-US" sz="4181" spc="20">
                <a:solidFill>
                  <a:srgbClr val="000000"/>
                </a:solidFill>
                <a:latin typeface="Canva Sans"/>
                <a:ea typeface="Canva Sans"/>
                <a:cs typeface="Canva Sans"/>
                <a:sym typeface="Canva Sans"/>
              </a:rPr>
              <a:t>th Plan – $149/month for mid‑sized businesses with higher volume needs and API access.</a:t>
            </a:r>
          </a:p>
          <a:p>
            <a:pPr algn="ctr" marL="902737" indent="-451368" lvl="1">
              <a:lnSpc>
                <a:spcPts val="5853"/>
              </a:lnSpc>
              <a:buFont typeface="Arial"/>
              <a:buChar char="•"/>
            </a:pPr>
            <a:r>
              <a:rPr lang="en-US" sz="4181" spc="20">
                <a:solidFill>
                  <a:srgbClr val="000000"/>
                </a:solidFill>
                <a:latin typeface="Canva Sans"/>
                <a:ea typeface="Canva Sans"/>
                <a:cs typeface="Canva Sans"/>
                <a:sym typeface="Canva Sans"/>
              </a:rPr>
              <a:t>E</a:t>
            </a:r>
            <a:r>
              <a:rPr lang="en-US" sz="4181" spc="20">
                <a:solidFill>
                  <a:srgbClr val="000000"/>
                </a:solidFill>
                <a:latin typeface="Canva Sans"/>
                <a:ea typeface="Canva Sans"/>
                <a:cs typeface="Canva Sans"/>
                <a:sym typeface="Canva Sans"/>
              </a:rPr>
              <a:t>nterprise Plan – $499/month for</a:t>
            </a:r>
            <a:r>
              <a:rPr lang="en-US" sz="4181" spc="20">
                <a:solidFill>
                  <a:srgbClr val="000000"/>
                </a:solidFill>
                <a:latin typeface="Canva Sans"/>
                <a:ea typeface="Canva Sans"/>
                <a:cs typeface="Canva Sans"/>
                <a:sym typeface="Canva Sans"/>
              </a:rPr>
              <a:t> large clients requiring custom pipelines, dashboards, and priority support.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902317" cy="10287000"/>
          </a:xfrm>
          <a:prstGeom prst="rect">
            <a:avLst/>
          </a:prstGeom>
          <a:solidFill>
            <a:srgbClr val="90113E"/>
          </a:solidFill>
        </p:spPr>
      </p:sp>
      <p:sp>
        <p:nvSpPr>
          <p:cNvPr name="Freeform 3" id="3"/>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0" t="0" r="-174813" b="0"/>
            </a:stretch>
          </a:blipFill>
        </p:spPr>
      </p:sp>
      <p:sp>
        <p:nvSpPr>
          <p:cNvPr name="TextBox 4" id="4"/>
          <p:cNvSpPr txBox="true"/>
          <p:nvPr/>
        </p:nvSpPr>
        <p:spPr>
          <a:xfrm rot="0">
            <a:off x="1902317" y="1781543"/>
            <a:ext cx="15878557" cy="8505457"/>
          </a:xfrm>
          <a:prstGeom prst="rect">
            <a:avLst/>
          </a:prstGeom>
        </p:spPr>
        <p:txBody>
          <a:bodyPr anchor="t" rtlCol="false" tIns="0" lIns="0" bIns="0" rIns="0">
            <a:spAutoFit/>
          </a:bodyPr>
          <a:lstStyle/>
          <a:p>
            <a:pPr algn="l">
              <a:lnSpc>
                <a:spcPts val="6823"/>
              </a:lnSpc>
            </a:pPr>
            <a:r>
              <a:rPr lang="en-US" sz="4874">
                <a:solidFill>
                  <a:srgbClr val="000000"/>
                </a:solidFill>
                <a:latin typeface="Canva Sans"/>
                <a:ea typeface="Canva Sans"/>
                <a:cs typeface="Canva Sans"/>
                <a:sym typeface="Canva Sans"/>
              </a:rPr>
              <a:t>I will reach my customers through:</a:t>
            </a:r>
          </a:p>
          <a:p>
            <a:pPr algn="l" marL="1052337" indent="-526169" lvl="1">
              <a:lnSpc>
                <a:spcPts val="6823"/>
              </a:lnSpc>
              <a:buFont typeface="Arial"/>
              <a:buChar char="•"/>
            </a:pPr>
            <a:r>
              <a:rPr lang="en-US" sz="4874">
                <a:solidFill>
                  <a:srgbClr val="000000"/>
                </a:solidFill>
                <a:latin typeface="Canva Sans"/>
                <a:ea typeface="Canva Sans"/>
                <a:cs typeface="Canva Sans"/>
                <a:sym typeface="Canva Sans"/>
              </a:rPr>
              <a:t>Direct Outreach via LinkedIn &amp; Email Target SME owners and managers in e‑commerce, research, and local markets with tailored demos.</a:t>
            </a:r>
          </a:p>
          <a:p>
            <a:pPr algn="l" marL="1052337" indent="-526169" lvl="1">
              <a:lnSpc>
                <a:spcPts val="6823"/>
              </a:lnSpc>
              <a:buFont typeface="Arial"/>
              <a:buChar char="•"/>
            </a:pPr>
            <a:r>
              <a:rPr lang="en-US" sz="4874">
                <a:solidFill>
                  <a:srgbClr val="000000"/>
                </a:solidFill>
                <a:latin typeface="Canva Sans"/>
                <a:ea typeface="Canva Sans"/>
                <a:cs typeface="Canva Sans"/>
                <a:sym typeface="Canva Sans"/>
              </a:rPr>
              <a:t>Partnerships with Local Business Hubs/Incubators Collaborate with entrepreneurship centers, NGOs, and training programs to onboard SMEs who need affordable data solutions.</a:t>
            </a:r>
          </a:p>
          <a:p>
            <a:pPr algn="l">
              <a:lnSpc>
                <a:spcPts val="6823"/>
              </a:lnSpc>
            </a:pPr>
          </a:p>
        </p:txBody>
      </p:sp>
      <p:sp>
        <p:nvSpPr>
          <p:cNvPr name="TextBox 5" id="5"/>
          <p:cNvSpPr txBox="true"/>
          <p:nvPr/>
        </p:nvSpPr>
        <p:spPr>
          <a:xfrm rot="0">
            <a:off x="2382668" y="667172"/>
            <a:ext cx="13944632" cy="1228725"/>
          </a:xfrm>
          <a:prstGeom prst="rect">
            <a:avLst/>
          </a:prstGeom>
        </p:spPr>
        <p:txBody>
          <a:bodyPr anchor="t" rtlCol="false" tIns="0" lIns="0" bIns="0" rIns="0">
            <a:spAutoFit/>
          </a:bodyPr>
          <a:lstStyle/>
          <a:p>
            <a:pPr algn="l" marL="0" indent="0" lvl="0">
              <a:lnSpc>
                <a:spcPts val="9720"/>
              </a:lnSpc>
            </a:pPr>
            <a:r>
              <a:rPr lang="en-US" b="true" sz="8100">
                <a:solidFill>
                  <a:srgbClr val="00BF63"/>
                </a:solidFill>
                <a:latin typeface="Barlow Semi-Bold"/>
                <a:ea typeface="Barlow Semi-Bold"/>
                <a:cs typeface="Barlow Semi-Bold"/>
                <a:sym typeface="Barlow Semi-Bold"/>
              </a:rPr>
              <a:t>Go To Market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902317" cy="10287000"/>
          </a:xfrm>
          <a:prstGeom prst="rect">
            <a:avLst/>
          </a:prstGeom>
          <a:solidFill>
            <a:srgbClr val="90113E"/>
          </a:solidFill>
        </p:spPr>
      </p:sp>
      <p:sp>
        <p:nvSpPr>
          <p:cNvPr name="Freeform 3" id="3"/>
          <p:cNvSpPr/>
          <p:nvPr/>
        </p:nvSpPr>
        <p:spPr>
          <a:xfrm flipH="false" flipV="false" rot="0">
            <a:off x="-1902317" y="-84320"/>
            <a:ext cx="3804634" cy="10455640"/>
          </a:xfrm>
          <a:custGeom>
            <a:avLst/>
            <a:gdLst/>
            <a:ahLst/>
            <a:cxnLst/>
            <a:rect r="r" b="b" t="t" l="l"/>
            <a:pathLst>
              <a:path h="10455640" w="3804634">
                <a:moveTo>
                  <a:pt x="0" y="0"/>
                </a:moveTo>
                <a:lnTo>
                  <a:pt x="3804634" y="0"/>
                </a:lnTo>
                <a:lnTo>
                  <a:pt x="3804634"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0" t="0" r="-174813" b="0"/>
            </a:stretch>
          </a:blipFill>
        </p:spPr>
      </p:sp>
      <p:sp>
        <p:nvSpPr>
          <p:cNvPr name="TextBox 4" id="4"/>
          <p:cNvSpPr txBox="true"/>
          <p:nvPr/>
        </p:nvSpPr>
        <p:spPr>
          <a:xfrm rot="0">
            <a:off x="2176755" y="2541598"/>
            <a:ext cx="15082545" cy="4406312"/>
          </a:xfrm>
          <a:prstGeom prst="rect">
            <a:avLst/>
          </a:prstGeom>
        </p:spPr>
        <p:txBody>
          <a:bodyPr anchor="t" rtlCol="false" tIns="0" lIns="0" bIns="0" rIns="0">
            <a:spAutoFit/>
          </a:bodyPr>
          <a:lstStyle/>
          <a:p>
            <a:pPr algn="l">
              <a:lnSpc>
                <a:spcPts val="7032"/>
              </a:lnSpc>
            </a:pPr>
            <a:r>
              <a:rPr lang="en-US" sz="5023">
                <a:solidFill>
                  <a:srgbClr val="000000"/>
                </a:solidFill>
                <a:latin typeface="Canva Sans"/>
                <a:ea typeface="Canva Sans"/>
                <a:cs typeface="Canva Sans"/>
                <a:sym typeface="Canva Sans"/>
              </a:rPr>
              <a:t>By automating access to online data, web scraping empowers NGOs, researchers, and small businesses with insights they couldn’t afford otherwise—driving transparency, education, and fair opportunity.</a:t>
            </a:r>
          </a:p>
        </p:txBody>
      </p:sp>
      <p:sp>
        <p:nvSpPr>
          <p:cNvPr name="TextBox 5" id="5"/>
          <p:cNvSpPr txBox="true"/>
          <p:nvPr/>
        </p:nvSpPr>
        <p:spPr>
          <a:xfrm rot="0">
            <a:off x="2382668" y="667172"/>
            <a:ext cx="13944632" cy="1228725"/>
          </a:xfrm>
          <a:prstGeom prst="rect">
            <a:avLst/>
          </a:prstGeom>
        </p:spPr>
        <p:txBody>
          <a:bodyPr anchor="t" rtlCol="false" tIns="0" lIns="0" bIns="0" rIns="0">
            <a:spAutoFit/>
          </a:bodyPr>
          <a:lstStyle/>
          <a:p>
            <a:pPr algn="l" marL="0" indent="0" lvl="0">
              <a:lnSpc>
                <a:spcPts val="9720"/>
              </a:lnSpc>
            </a:pPr>
            <a:r>
              <a:rPr lang="en-US" b="true" sz="8100">
                <a:solidFill>
                  <a:srgbClr val="00BF63"/>
                </a:solidFill>
                <a:latin typeface="Barlow Semi-Bold"/>
                <a:ea typeface="Barlow Semi-Bold"/>
                <a:cs typeface="Barlow Semi-Bold"/>
                <a:sym typeface="Barlow Semi-Bold"/>
              </a:rPr>
              <a:t>Social Impact</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35012" y="2710324"/>
            <a:ext cx="14180848" cy="6547976"/>
          </a:xfrm>
          <a:prstGeom prst="rect">
            <a:avLst/>
          </a:prstGeom>
        </p:spPr>
        <p:txBody>
          <a:bodyPr anchor="t" rtlCol="false" tIns="0" lIns="0" bIns="0" rIns="0">
            <a:spAutoFit/>
          </a:bodyPr>
          <a:lstStyle/>
          <a:p>
            <a:pPr algn="l" marL="1257951" indent="-628976" lvl="1">
              <a:lnSpc>
                <a:spcPts val="8739"/>
              </a:lnSpc>
              <a:buFont typeface="Arial"/>
              <a:buChar char="•"/>
            </a:pPr>
            <a:r>
              <a:rPr lang="en-US" sz="5826">
                <a:solidFill>
                  <a:srgbClr val="000000"/>
                </a:solidFill>
                <a:latin typeface="Barlow"/>
                <a:ea typeface="Barlow"/>
                <a:cs typeface="Barlow"/>
                <a:sym typeface="Barlow"/>
              </a:rPr>
              <a:t>We are raising $50,000 to scale our web scraping platform.</a:t>
            </a:r>
          </a:p>
          <a:p>
            <a:pPr algn="l" marL="1257951" indent="-628976" lvl="1">
              <a:lnSpc>
                <a:spcPts val="8739"/>
              </a:lnSpc>
              <a:buFont typeface="Arial"/>
              <a:buChar char="•"/>
            </a:pPr>
            <a:r>
              <a:rPr lang="en-US" sz="5826">
                <a:solidFill>
                  <a:srgbClr val="000000"/>
                </a:solidFill>
                <a:latin typeface="Barlow"/>
                <a:ea typeface="Barlow"/>
                <a:cs typeface="Barlow"/>
                <a:sym typeface="Barlow"/>
              </a:rPr>
              <a:t>Funds will be used for infrastructure (40%), product development (30%), and marketing (30%).</a:t>
            </a:r>
          </a:p>
          <a:p>
            <a:pPr algn="l">
              <a:lnSpc>
                <a:spcPts val="8739"/>
              </a:lnSpc>
            </a:pPr>
          </a:p>
        </p:txBody>
      </p:sp>
      <p:sp>
        <p:nvSpPr>
          <p:cNvPr name="TextBox 3" id="3"/>
          <p:cNvSpPr txBox="true"/>
          <p:nvPr/>
        </p:nvSpPr>
        <p:spPr>
          <a:xfrm rot="0">
            <a:off x="1028700" y="657822"/>
            <a:ext cx="6896736" cy="1228725"/>
          </a:xfrm>
          <a:prstGeom prst="rect">
            <a:avLst/>
          </a:prstGeom>
        </p:spPr>
        <p:txBody>
          <a:bodyPr anchor="t" rtlCol="false" tIns="0" lIns="0" bIns="0" rIns="0">
            <a:spAutoFit/>
          </a:bodyPr>
          <a:lstStyle/>
          <a:p>
            <a:pPr algn="l" marL="0" indent="0" lvl="0">
              <a:lnSpc>
                <a:spcPts val="9720"/>
              </a:lnSpc>
              <a:spcBef>
                <a:spcPct val="0"/>
              </a:spcBef>
            </a:pPr>
            <a:r>
              <a:rPr lang="en-US" b="true" sz="8100">
                <a:solidFill>
                  <a:srgbClr val="00BF63"/>
                </a:solidFill>
                <a:latin typeface="Barlow Bold"/>
                <a:ea typeface="Barlow Bold"/>
                <a:cs typeface="Barlow Bold"/>
                <a:sym typeface="Barlow Bold"/>
              </a:rPr>
              <a:t>Our Ask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4634" y="-84320"/>
            <a:ext cx="10455640" cy="10455640"/>
          </a:xfrm>
          <a:custGeom>
            <a:avLst/>
            <a:gdLst/>
            <a:ahLst/>
            <a:cxnLst/>
            <a:rect r="r" b="b" t="t" l="l"/>
            <a:pathLst>
              <a:path h="10455640" w="10455640">
                <a:moveTo>
                  <a:pt x="0" y="0"/>
                </a:moveTo>
                <a:lnTo>
                  <a:pt x="10455640" y="0"/>
                </a:lnTo>
                <a:lnTo>
                  <a:pt x="10455640" y="10455640"/>
                </a:lnTo>
                <a:lnTo>
                  <a:pt x="0" y="10455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044460" y="3053956"/>
            <a:ext cx="12913269" cy="3898100"/>
            <a:chOff x="0" y="0"/>
            <a:chExt cx="17217692" cy="5197467"/>
          </a:xfrm>
        </p:grpSpPr>
        <p:sp>
          <p:nvSpPr>
            <p:cNvPr name="TextBox 4" id="4"/>
            <p:cNvSpPr txBox="true"/>
            <p:nvPr/>
          </p:nvSpPr>
          <p:spPr>
            <a:xfrm rot="0">
              <a:off x="0" y="285750"/>
              <a:ext cx="13598772" cy="2762250"/>
            </a:xfrm>
            <a:prstGeom prst="rect">
              <a:avLst/>
            </a:prstGeom>
          </p:spPr>
          <p:txBody>
            <a:bodyPr anchor="t" rtlCol="false" tIns="0" lIns="0" bIns="0" rIns="0">
              <a:spAutoFit/>
            </a:bodyPr>
            <a:lstStyle/>
            <a:p>
              <a:pPr algn="ctr">
                <a:lnSpc>
                  <a:spcPts val="15000"/>
                </a:lnSpc>
              </a:pPr>
              <a:r>
                <a:rPr lang="en-US" b="true" sz="15000">
                  <a:solidFill>
                    <a:srgbClr val="00BF63"/>
                  </a:solidFill>
                  <a:latin typeface="Barlow Semi-Bold"/>
                  <a:ea typeface="Barlow Semi-Bold"/>
                  <a:cs typeface="Barlow Semi-Bold"/>
                  <a:sym typeface="Barlow Semi-Bold"/>
                </a:rPr>
                <a:t>Thank you!</a:t>
              </a:r>
            </a:p>
          </p:txBody>
        </p:sp>
        <p:sp>
          <p:nvSpPr>
            <p:cNvPr name="TextBox 5" id="5"/>
            <p:cNvSpPr txBox="true"/>
            <p:nvPr/>
          </p:nvSpPr>
          <p:spPr>
            <a:xfrm rot="0">
              <a:off x="0" y="3740565"/>
              <a:ext cx="17217692" cy="1456902"/>
            </a:xfrm>
            <a:prstGeom prst="rect">
              <a:avLst/>
            </a:prstGeom>
          </p:spPr>
          <p:txBody>
            <a:bodyPr anchor="t" rtlCol="false" tIns="0" lIns="0" bIns="0" rIns="0">
              <a:spAutoFit/>
            </a:bodyPr>
            <a:lstStyle/>
            <a:p>
              <a:pPr algn="ctr">
                <a:lnSpc>
                  <a:spcPts val="4479"/>
                </a:lnSpc>
              </a:pPr>
              <a:r>
                <a:rPr lang="en-US" sz="3199" b="true">
                  <a:solidFill>
                    <a:srgbClr val="00BF63"/>
                  </a:solidFill>
                  <a:latin typeface="Barlow Medium"/>
                  <a:ea typeface="Barlow Medium"/>
                  <a:cs typeface="Barlow Medium"/>
                  <a:sym typeface="Barlow Medium"/>
                </a:rPr>
                <a:t>Email me at: gatduelriek@gmail.com or visit my LinkedIn account here:</a:t>
              </a:r>
            </a:p>
            <a:p>
              <a:pPr algn="ctr">
                <a:lnSpc>
                  <a:spcPts val="4479"/>
                </a:lnSpc>
              </a:pPr>
              <a:r>
                <a:rPr lang="en-US" b="true" sz="3199">
                  <a:solidFill>
                    <a:srgbClr val="00BF63"/>
                  </a:solidFill>
                  <a:latin typeface="Barlow Medium"/>
                  <a:ea typeface="Barlow Medium"/>
                  <a:cs typeface="Barlow Medium"/>
                  <a:sym typeface="Barlow Medium"/>
                </a:rPr>
                <a:t>www.linkedin.com/in/gatduel-riek-752086325</a:t>
              </a:r>
            </a:p>
          </p:txBody>
        </p:sp>
      </p:grpSp>
      <p:sp>
        <p:nvSpPr>
          <p:cNvPr name="Freeform 6" id="6"/>
          <p:cNvSpPr/>
          <p:nvPr/>
        </p:nvSpPr>
        <p:spPr>
          <a:xfrm flipH="false" flipV="false" rot="0">
            <a:off x="14892730" y="1028700"/>
            <a:ext cx="2793363" cy="1396681"/>
          </a:xfrm>
          <a:custGeom>
            <a:avLst/>
            <a:gdLst/>
            <a:ahLst/>
            <a:cxnLst/>
            <a:rect r="r" b="b" t="t" l="l"/>
            <a:pathLst>
              <a:path h="1396681" w="2793363">
                <a:moveTo>
                  <a:pt x="0" y="0"/>
                </a:moveTo>
                <a:lnTo>
                  <a:pt x="2793363" y="0"/>
                </a:lnTo>
                <a:lnTo>
                  <a:pt x="2793363" y="1396681"/>
                </a:lnTo>
                <a:lnTo>
                  <a:pt x="0" y="13966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2825260" y="6798102"/>
            <a:ext cx="2438400" cy="2438400"/>
          </a:xfrm>
          <a:custGeom>
            <a:avLst/>
            <a:gdLst/>
            <a:ahLst/>
            <a:cxnLst/>
            <a:rect r="r" b="b" t="t" l="l"/>
            <a:pathLst>
              <a:path h="2438400" w="2438400">
                <a:moveTo>
                  <a:pt x="2438400" y="0"/>
                </a:moveTo>
                <a:lnTo>
                  <a:pt x="0" y="0"/>
                </a:lnTo>
                <a:lnTo>
                  <a:pt x="0" y="2438400"/>
                </a:lnTo>
                <a:lnTo>
                  <a:pt x="2438400" y="2438400"/>
                </a:lnTo>
                <a:lnTo>
                  <a:pt x="24384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29257" y="893789"/>
            <a:ext cx="1079292" cy="269823"/>
          </a:xfrm>
          <a:custGeom>
            <a:avLst/>
            <a:gdLst/>
            <a:ahLst/>
            <a:cxnLst/>
            <a:rect r="r" b="b" t="t" l="l"/>
            <a:pathLst>
              <a:path h="269823" w="1079292">
                <a:moveTo>
                  <a:pt x="0" y="0"/>
                </a:moveTo>
                <a:lnTo>
                  <a:pt x="1079292" y="0"/>
                </a:lnTo>
                <a:lnTo>
                  <a:pt x="1079292" y="269822"/>
                </a:lnTo>
                <a:lnTo>
                  <a:pt x="0" y="2698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7050357" y="9484941"/>
            <a:ext cx="798886" cy="347980"/>
          </a:xfrm>
          <a:prstGeom prst="rect">
            <a:avLst/>
          </a:prstGeom>
        </p:spPr>
        <p:txBody>
          <a:bodyPr anchor="t" rtlCol="false" tIns="0" lIns="0" bIns="0" rIns="0">
            <a:spAutoFit/>
          </a:bodyPr>
          <a:lstStyle/>
          <a:p>
            <a:pPr algn="r">
              <a:lnSpc>
                <a:spcPts val="2749"/>
              </a:lnSpc>
            </a:pPr>
            <a:r>
              <a:rPr lang="en-US" sz="2199" b="true">
                <a:solidFill>
                  <a:srgbClr val="000000"/>
                </a:solidFill>
                <a:latin typeface="Barlow Semi-Bold"/>
                <a:ea typeface="Barlow Semi-Bold"/>
                <a:cs typeface="Barlow Semi-Bold"/>
                <a:sym typeface="Barlow Semi-Bold"/>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DAHWxNn6Bew</dc:identifier>
  <dcterms:modified xsi:type="dcterms:W3CDTF">2011-08-01T06:04:30Z</dcterms:modified>
  <cp:revision>1</cp:revision>
  <dc:title>Gatduel's Pitch Deck</dc:title>
</cp:coreProperties>
</file>